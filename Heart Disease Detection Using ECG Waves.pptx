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9144000" cy="6858000"/>
  <p:embeddedFontLst>
    <p:embeddedFont>
      <p:font typeface="Century Gothic"/>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25" roundtripDataSignature="AMtx7mjJdQH7GB3rGcX/L3LuL5vLTgg/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CenturyGothic-bold.fntdata"/><Relationship Id="rId21" Type="http://schemas.openxmlformats.org/officeDocument/2006/relationships/font" Target="fonts/CenturyGothic-regular.fntdata"/><Relationship Id="rId24" Type="http://schemas.openxmlformats.org/officeDocument/2006/relationships/font" Target="fonts/CenturyGothic-boldItalic.fntdata"/><Relationship Id="rId23" Type="http://schemas.openxmlformats.org/officeDocument/2006/relationships/font" Target="fonts/CenturyGothic-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4091"/>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4091"/>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300412"/>
            <a:ext cx="7315200" cy="27003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409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80" name="Google Shape;80;p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92" name="Google Shape;92;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05" name="Google Shape;105;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c968d88648_0_251: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19" name="Google Shape;119;g2c968d88648_0_2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c968d88648_0_1: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35" name="Google Shape;135;g2c968d88648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3: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49" name="Google Shape;149;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c968d88648_0_18: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63" name="Google Shape;163;g2c968d88648_0_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c968d88648_0_34: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77" name="Google Shape;177;g2c968d88648_0_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c968d88648_0_52: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92" name="Google Shape;192;g2c968d88648_0_52:notes"/>
          <p:cNvSpPr/>
          <p:nvPr>
            <p:ph idx="2" type="sldImg"/>
          </p:nvPr>
        </p:nvSpPr>
        <p:spPr>
          <a:xfrm>
            <a:off x="508000" y="514350"/>
            <a:ext cx="81279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c968d88648_0_228: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02" name="Google Shape;202;g2c968d88648_0_2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6: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17" name="Google Shape;217;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8: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31" name="Google Shape;23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9: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46" name="Google Shape;24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c968d88648_0_136: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59" name="Google Shape;259;g2c968d88648_0_136:notes"/>
          <p:cNvSpPr/>
          <p:nvPr>
            <p:ph idx="2" type="sldImg"/>
          </p:nvPr>
        </p:nvSpPr>
        <p:spPr>
          <a:xfrm>
            <a:off x="508000" y="514350"/>
            <a:ext cx="81279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c968d88648_0_145: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69" name="Google Shape;269;g2c968d88648_0_145:notes"/>
          <p:cNvSpPr/>
          <p:nvPr>
            <p:ph idx="2" type="sldImg"/>
          </p:nvPr>
        </p:nvSpPr>
        <p:spPr>
          <a:xfrm>
            <a:off x="508000" y="514350"/>
            <a:ext cx="81279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19" name="Google Shape;1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0" name="Google Shape;2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1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4" name="Google Shape;24;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5" name="Google Shape;25;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6" name="Google Shape;2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1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2" name="Google Shape;32;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3" name="Google Shape;33;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1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1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41" name="Google Shape;4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42" name="Google Shape;4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46" name="Google Shape;4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47" name="Google Shape;4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50" name="Google Shape;50;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51" name="Google Shape;51;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2" name="Shape 52"/>
        <p:cNvGrpSpPr/>
        <p:nvPr/>
      </p:nvGrpSpPr>
      <p:grpSpPr>
        <a:xfrm>
          <a:off x="0" y="0"/>
          <a:ext cx="0" cy="0"/>
          <a:chOff x="0" y="0"/>
          <a:chExt cx="0" cy="0"/>
        </a:xfrm>
      </p:grpSpPr>
      <p:sp>
        <p:nvSpPr>
          <p:cNvPr id="53" name="Google Shape;53;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5" name="Google Shape;55;p1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6" name="Google Shape;56;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57" name="Google Shape;57;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58" name="Google Shape;5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9" name="Shape 59"/>
        <p:cNvGrpSpPr/>
        <p:nvPr/>
      </p:nvGrpSpPr>
      <p:grpSpPr>
        <a:xfrm>
          <a:off x="0" y="0"/>
          <a:ext cx="0" cy="0"/>
          <a:chOff x="0" y="0"/>
          <a:chExt cx="0" cy="0"/>
        </a:xfrm>
      </p:grpSpPr>
      <p:sp>
        <p:nvSpPr>
          <p:cNvPr id="60" name="Google Shape;60;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9"/>
          <p:cNvSpPr/>
          <p:nvPr>
            <p:ph idx="2" type="pic"/>
          </p:nvPr>
        </p:nvSpPr>
        <p:spPr>
          <a:xfrm>
            <a:off x="5183188" y="987425"/>
            <a:ext cx="6172200" cy="4873625"/>
          </a:xfrm>
          <a:prstGeom prst="rect">
            <a:avLst/>
          </a:prstGeom>
          <a:noFill/>
          <a:ln>
            <a:noFill/>
          </a:ln>
        </p:spPr>
      </p:sp>
      <p:sp>
        <p:nvSpPr>
          <p:cNvPr id="62" name="Google Shape;62;p1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64" name="Google Shape;64;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65" name="Google Shape;65;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6" name="Shape 66"/>
        <p:cNvGrpSpPr/>
        <p:nvPr/>
      </p:nvGrpSpPr>
      <p:grpSpPr>
        <a:xfrm>
          <a:off x="0" y="0"/>
          <a:ext cx="0" cy="0"/>
          <a:chOff x="0" y="0"/>
          <a:chExt cx="0" cy="0"/>
        </a:xfrm>
      </p:grpSpPr>
      <p:sp>
        <p:nvSpPr>
          <p:cNvPr id="67" name="Google Shape;67;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70" name="Google Shape;70;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71" name="Google Shape;71;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2" name="Shape 72"/>
        <p:cNvGrpSpPr/>
        <p:nvPr/>
      </p:nvGrpSpPr>
      <p:grpSpPr>
        <a:xfrm>
          <a:off x="0" y="0"/>
          <a:ext cx="0" cy="0"/>
          <a:chOff x="0" y="0"/>
          <a:chExt cx="0" cy="0"/>
        </a:xfrm>
      </p:grpSpPr>
      <p:sp>
        <p:nvSpPr>
          <p:cNvPr id="73" name="Google Shape;73;p2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76" name="Google Shape;76;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77" name="Google Shape;77;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13" name="Google Shape;1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14" name="Google Shape;1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6.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6.png"/><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6.png"/><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image" Target="../media/image14.gif"/><Relationship Id="rId8"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6.png"/><Relationship Id="rId6"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6.png"/><Relationship Id="rId6"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6.png"/><Relationship Id="rId6"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image" Target="../media/image17.png"/><Relationship Id="rId8"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6.png"/><Relationship Id="rId6" Type="http://schemas.openxmlformats.org/officeDocument/2006/relationships/image" Target="../media/image3.png"/></Relationships>
</file>

<file path=ppt/slides/_rels/slide14.xml.rels><?xml version="1.0" encoding="UTF-8" standalone="yes"?><Relationships xmlns="http://schemas.openxmlformats.org/package/2006/relationships"><Relationship Id="rId11" Type="http://schemas.openxmlformats.org/officeDocument/2006/relationships/hyperlink" Target="https://doi.org/10.1186/s40537-019-0244-x" TargetMode="External"/><Relationship Id="rId10" Type="http://schemas.openxmlformats.org/officeDocument/2006/relationships/hyperlink" Target="https://ieeexplore.ieee.org/document/9651457" TargetMode="External"/><Relationship Id="rId13" Type="http://schemas.openxmlformats.org/officeDocument/2006/relationships/hyperlink" Target="https://doi.org/10.1186/s40537-019-0244-x" TargetMode="External"/><Relationship Id="rId12" Type="http://schemas.openxmlformats.org/officeDocument/2006/relationships/hyperlink" Target="https://doi.org/10.1186/s40537-019-0244-x" TargetMode="External"/><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6.png"/><Relationship Id="rId9" Type="http://schemas.openxmlformats.org/officeDocument/2006/relationships/hyperlink" Target="https://ieeexplore.ieee.org/document/10073094" TargetMode="External"/><Relationship Id="rId5" Type="http://schemas.openxmlformats.org/officeDocument/2006/relationships/image" Target="../media/image11.png"/><Relationship Id="rId6" Type="http://schemas.openxmlformats.org/officeDocument/2006/relationships/hyperlink" Target="https://www.researchgate.net/publication/354725060_ECG-based_machine-learning_algorithms_for_heartbeat_classification" TargetMode="External"/><Relationship Id="rId7" Type="http://schemas.openxmlformats.org/officeDocument/2006/relationships/hyperlink" Target="https://ieeexplore.ieee.org.library.somaiya.edu/document/10053266" TargetMode="External"/><Relationship Id="rId8" Type="http://schemas.openxmlformats.org/officeDocument/2006/relationships/hyperlink" Target="https://ieeexplore.ieee.org/document/9402653"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id="82" name="Google Shape;82;p1"/>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83" name="Google Shape;83;p1"/>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84" name="Google Shape;84;p1"/>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85" name="Google Shape;85;p1"/>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86" name="Google Shape;86;p1"/>
          <p:cNvSpPr txBox="1"/>
          <p:nvPr/>
        </p:nvSpPr>
        <p:spPr>
          <a:xfrm>
            <a:off x="1182000" y="1634625"/>
            <a:ext cx="10904400" cy="424065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lang="en-IN" sz="2800">
                <a:solidFill>
                  <a:srgbClr val="C00000"/>
                </a:solidFill>
                <a:latin typeface="Times New Roman"/>
                <a:ea typeface="Times New Roman"/>
                <a:cs typeface="Times New Roman"/>
                <a:sym typeface="Times New Roman"/>
              </a:rPr>
              <a:t>Heart Disease Detection Using ECG Waves </a:t>
            </a:r>
            <a:endParaRPr b="1" i="0" sz="2400" u="none" cap="none" strike="noStrike">
              <a:solidFill>
                <a:srgbClr val="C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Times New Roman"/>
                <a:ea typeface="Times New Roman"/>
                <a:cs typeface="Times New Roman"/>
                <a:sym typeface="Times New Roman"/>
              </a:rPr>
              <a:t>       </a:t>
            </a:r>
            <a:r>
              <a:rPr b="1" lang="en-IN" sz="1800">
                <a:latin typeface="Times New Roman"/>
                <a:ea typeface="Times New Roman"/>
                <a:cs typeface="Times New Roman"/>
                <a:sym typeface="Times New Roman"/>
              </a:rPr>
              <a:t>Shivam Thakkar</a:t>
            </a:r>
            <a:endParaRPr b="1" i="0" sz="1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Times New Roman"/>
                <a:ea typeface="Times New Roman"/>
                <a:cs typeface="Times New Roman"/>
                <a:sym typeface="Times New Roman"/>
              </a:rPr>
              <a:t>        </a:t>
            </a:r>
            <a:r>
              <a:rPr b="1" lang="en-IN" sz="1800">
                <a:latin typeface="Times New Roman"/>
                <a:ea typeface="Times New Roman"/>
                <a:cs typeface="Times New Roman"/>
                <a:sym typeface="Times New Roman"/>
              </a:rPr>
              <a:t>Dweep Vira</a:t>
            </a:r>
            <a:endParaRPr b="1" i="0" sz="1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Times New Roman"/>
                <a:ea typeface="Times New Roman"/>
                <a:cs typeface="Times New Roman"/>
                <a:sym typeface="Times New Roman"/>
              </a:rPr>
              <a:t>         </a:t>
            </a:r>
            <a:r>
              <a:rPr b="1" lang="en-IN" sz="1800">
                <a:latin typeface="Times New Roman"/>
                <a:ea typeface="Times New Roman"/>
                <a:cs typeface="Times New Roman"/>
                <a:sym typeface="Times New Roman"/>
              </a:rPr>
              <a:t>Usaid Khan</a:t>
            </a:r>
            <a:endParaRPr/>
          </a:p>
          <a:p>
            <a:pPr indent="457200" lvl="0" marL="0" marR="0" rtl="0" algn="ctr">
              <a:lnSpc>
                <a:spcPct val="100000"/>
              </a:lnSpc>
              <a:spcBef>
                <a:spcPts val="0"/>
              </a:spcBef>
              <a:spcAft>
                <a:spcPts val="0"/>
              </a:spcAft>
              <a:buClr>
                <a:srgbClr val="000000"/>
              </a:buClr>
              <a:buSzPts val="2400"/>
              <a:buFont typeface="Arial"/>
              <a:buNone/>
            </a:pPr>
            <a:r>
              <a:rPr b="1" i="0" lang="en-IN" sz="2400" u="none" cap="none" strike="noStrike">
                <a:solidFill>
                  <a:srgbClr val="000000"/>
                </a:solidFill>
                <a:latin typeface="Times New Roman"/>
                <a:ea typeface="Times New Roman"/>
                <a:cs typeface="Times New Roman"/>
                <a:sym typeface="Times New Roman"/>
              </a:rPr>
              <a:t>(</a:t>
            </a:r>
            <a:r>
              <a:rPr b="1" lang="en-IN" sz="2400">
                <a:latin typeface="Times New Roman"/>
                <a:ea typeface="Times New Roman"/>
                <a:cs typeface="Times New Roman"/>
                <a:sym typeface="Times New Roman"/>
              </a:rPr>
              <a:t>Final</a:t>
            </a:r>
            <a:r>
              <a:rPr b="1" i="0" lang="en-IN" sz="2400" u="none" cap="none" strike="noStrike">
                <a:solidFill>
                  <a:srgbClr val="000000"/>
                </a:solidFill>
                <a:latin typeface="Times New Roman"/>
                <a:ea typeface="Times New Roman"/>
                <a:cs typeface="Times New Roman"/>
                <a:sym typeface="Times New Roman"/>
              </a:rPr>
              <a:t> Year Engineering)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2000"/>
              <a:buFont typeface="Arial"/>
              <a:buNone/>
            </a:pPr>
            <a:r>
              <a:rPr b="1" lang="en-IN" sz="2000">
                <a:solidFill>
                  <a:srgbClr val="052358"/>
                </a:solidFill>
                <a:latin typeface="Times New Roman"/>
                <a:ea typeface="Times New Roman"/>
                <a:cs typeface="Times New Roman"/>
                <a:sym typeface="Times New Roman"/>
              </a:rPr>
              <a:t>Academic Year 2023-24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05235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6E3F0C"/>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700"/>
              <a:buFont typeface="Arial"/>
              <a:buNone/>
            </a:pPr>
            <a:r>
              <a:rPr b="1" i="0" lang="en-IN" sz="1700" u="none" cap="none" strike="noStrike">
                <a:solidFill>
                  <a:srgbClr val="C00000"/>
                </a:solidFill>
                <a:latin typeface="Times New Roman"/>
                <a:ea typeface="Times New Roman"/>
                <a:cs typeface="Times New Roman"/>
                <a:sym typeface="Times New Roman"/>
              </a:rPr>
              <a:t>     						</a:t>
            </a:r>
            <a:r>
              <a:rPr b="0" i="0" lang="en-IN" sz="1700" u="none" cap="none" strike="noStrike">
                <a:solidFill>
                  <a:srgbClr val="000000"/>
                </a:solidFill>
                <a:latin typeface="Times New Roman"/>
                <a:ea typeface="Times New Roman"/>
                <a:cs typeface="Times New Roman"/>
                <a:sym typeface="Times New Roman"/>
              </a:rPr>
              <a:t>			               </a:t>
            </a:r>
            <a:endParaRPr b="0" i="0" sz="11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p:txBody>
      </p:sp>
      <p:sp>
        <p:nvSpPr>
          <p:cNvPr descr="image.png" id="87" name="Google Shape;87;p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image.png" id="88" name="Google Shape;88;p1"/>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C:\Users\Aarti Sahitya\Desktop\collegelogo1.PNG" id="89" name="Google Shape;89;p1"/>
          <p:cNvPicPr preferRelativeResize="0"/>
          <p:nvPr/>
        </p:nvPicPr>
        <p:blipFill rotWithShape="1">
          <a:blip r:embed="rId6">
            <a:alphaModFix/>
          </a:blip>
          <a:srcRect b="0" l="0" r="0" t="0"/>
          <a:stretch/>
        </p:blipFill>
        <p:spPr>
          <a:xfrm>
            <a:off x="1299625" y="48720"/>
            <a:ext cx="7655189" cy="130711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2"/>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95" name="Google Shape;95;p2"/>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96" name="Google Shape;96;p2"/>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97" name="Google Shape;97;p2"/>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98" name="Google Shape;98;p2"/>
          <p:cNvSpPr txBox="1"/>
          <p:nvPr/>
        </p:nvSpPr>
        <p:spPr>
          <a:xfrm>
            <a:off x="1182000" y="2391375"/>
            <a:ext cx="11010000" cy="4240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rPr b="0" i="0" lang="en-IN" sz="2000" u="none" cap="none" strike="noStrike">
                <a:solidFill>
                  <a:srgbClr val="052358"/>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05235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6E3F0C"/>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700"/>
              <a:buFont typeface="Arial"/>
              <a:buNone/>
            </a:pPr>
            <a:r>
              <a:rPr b="1" i="0" lang="en-IN" sz="1700" u="none" cap="none" strike="noStrike">
                <a:solidFill>
                  <a:srgbClr val="C00000"/>
                </a:solidFill>
                <a:latin typeface="Times New Roman"/>
                <a:ea typeface="Times New Roman"/>
                <a:cs typeface="Times New Roman"/>
                <a:sym typeface="Times New Roman"/>
              </a:rPr>
              <a:t>     						</a:t>
            </a:r>
            <a:r>
              <a:rPr b="0" i="0" lang="en-IN" sz="1700" u="none" cap="none" strike="noStrike">
                <a:solidFill>
                  <a:srgbClr val="000000"/>
                </a:solidFill>
                <a:latin typeface="Times New Roman"/>
                <a:ea typeface="Times New Roman"/>
                <a:cs typeface="Times New Roman"/>
                <a:sym typeface="Times New Roman"/>
              </a:rPr>
              <a:t>			               </a:t>
            </a:r>
            <a:endParaRPr b="0" i="0" sz="11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p:txBody>
      </p:sp>
      <p:sp>
        <p:nvSpPr>
          <p:cNvPr descr="image.png" id="99" name="Google Shape;99;p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image.png" id="100" name="Google Shape;100;p2"/>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C:\Users\Aarti Sahitya\Desktop\collegelogo1.PNG" id="101" name="Google Shape;101;p2"/>
          <p:cNvPicPr preferRelativeResize="0"/>
          <p:nvPr/>
        </p:nvPicPr>
        <p:blipFill rotWithShape="1">
          <a:blip r:embed="rId6">
            <a:alphaModFix/>
          </a:blip>
          <a:srcRect b="0" l="0" r="0" t="0"/>
          <a:stretch/>
        </p:blipFill>
        <p:spPr>
          <a:xfrm>
            <a:off x="1299625" y="48720"/>
            <a:ext cx="7655189" cy="1307114"/>
          </a:xfrm>
          <a:prstGeom prst="rect">
            <a:avLst/>
          </a:prstGeom>
          <a:noFill/>
          <a:ln>
            <a:noFill/>
          </a:ln>
        </p:spPr>
      </p:pic>
      <p:sp>
        <p:nvSpPr>
          <p:cNvPr id="102" name="Google Shape;102;p2"/>
          <p:cNvSpPr txBox="1"/>
          <p:nvPr/>
        </p:nvSpPr>
        <p:spPr>
          <a:xfrm>
            <a:off x="1394292" y="1436943"/>
            <a:ext cx="7980935" cy="64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00"/>
              <a:buFont typeface="Arial"/>
              <a:buNone/>
            </a:pPr>
            <a:r>
              <a:rPr b="1" i="0" lang="en-IN" sz="3100" u="none" cap="none" strike="noStrike">
                <a:solidFill>
                  <a:srgbClr val="C00000"/>
                </a:solidFill>
                <a:latin typeface="Times New Roman"/>
                <a:ea typeface="Times New Roman"/>
                <a:cs typeface="Times New Roman"/>
                <a:sym typeface="Times New Roman"/>
              </a:rPr>
              <a:t>Outline of Presentation</a:t>
            </a:r>
            <a:endParaRPr b="1" i="0" sz="31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1" sz="2000">
              <a:solidFill>
                <a:srgbClr val="C00000"/>
              </a:solidFill>
              <a:latin typeface="Times New Roman"/>
              <a:ea typeface="Times New Roman"/>
              <a:cs typeface="Times New Roman"/>
              <a:sym typeface="Times New Roman"/>
            </a:endParaRPr>
          </a:p>
          <a:p>
            <a:pPr indent="-374650" lvl="0" marL="457200" marR="0" rtl="0" algn="l">
              <a:lnSpc>
                <a:spcPct val="150000"/>
              </a:lnSpc>
              <a:spcBef>
                <a:spcPts val="0"/>
              </a:spcBef>
              <a:spcAft>
                <a:spcPts val="0"/>
              </a:spcAft>
              <a:buClr>
                <a:srgbClr val="052358"/>
              </a:buClr>
              <a:buSzPts val="2300"/>
              <a:buFont typeface="Times New Roman"/>
              <a:buChar char="●"/>
            </a:pPr>
            <a:r>
              <a:rPr b="0" i="0" lang="en-IN" sz="2300" u="none" cap="none" strike="noStrike">
                <a:solidFill>
                  <a:srgbClr val="052358"/>
                </a:solidFill>
                <a:latin typeface="Times New Roman"/>
                <a:ea typeface="Times New Roman"/>
                <a:cs typeface="Times New Roman"/>
                <a:sym typeface="Times New Roman"/>
              </a:rPr>
              <a:t>Introduction</a:t>
            </a:r>
            <a:endParaRPr b="0" i="0" sz="2300" u="none" cap="none" strike="noStrike">
              <a:solidFill>
                <a:srgbClr val="000000"/>
              </a:solidFill>
              <a:latin typeface="Arial"/>
              <a:ea typeface="Arial"/>
              <a:cs typeface="Arial"/>
              <a:sym typeface="Arial"/>
            </a:endParaRPr>
          </a:p>
          <a:p>
            <a:pPr indent="-374650" lvl="0" marL="457200" marR="0" rtl="0" algn="l">
              <a:lnSpc>
                <a:spcPct val="150000"/>
              </a:lnSpc>
              <a:spcBef>
                <a:spcPts val="0"/>
              </a:spcBef>
              <a:spcAft>
                <a:spcPts val="0"/>
              </a:spcAft>
              <a:buClr>
                <a:srgbClr val="052358"/>
              </a:buClr>
              <a:buSzPts val="2300"/>
              <a:buFont typeface="Times New Roman"/>
              <a:buChar char="●"/>
            </a:pPr>
            <a:r>
              <a:rPr b="0" i="0" lang="en-IN" sz="2300" u="none" cap="none" strike="noStrike">
                <a:solidFill>
                  <a:srgbClr val="052358"/>
                </a:solidFill>
                <a:latin typeface="Times New Roman"/>
                <a:ea typeface="Times New Roman"/>
                <a:cs typeface="Times New Roman"/>
                <a:sym typeface="Times New Roman"/>
              </a:rPr>
              <a:t>Summary / Finding of Literature Survey</a:t>
            </a:r>
            <a:endParaRPr sz="1300"/>
          </a:p>
          <a:p>
            <a:pPr indent="-374650" lvl="0" marL="457200" marR="0" rtl="0" algn="l">
              <a:lnSpc>
                <a:spcPct val="150000"/>
              </a:lnSpc>
              <a:spcBef>
                <a:spcPts val="0"/>
              </a:spcBef>
              <a:spcAft>
                <a:spcPts val="0"/>
              </a:spcAft>
              <a:buClr>
                <a:srgbClr val="052358"/>
              </a:buClr>
              <a:buSzPts val="2300"/>
              <a:buFont typeface="Times New Roman"/>
              <a:buChar char="●"/>
            </a:pPr>
            <a:r>
              <a:rPr b="0" i="0" lang="en-IN" sz="2300" u="none" cap="none" strike="noStrike">
                <a:solidFill>
                  <a:srgbClr val="052358"/>
                </a:solidFill>
                <a:latin typeface="Times New Roman"/>
                <a:ea typeface="Times New Roman"/>
                <a:cs typeface="Times New Roman"/>
                <a:sym typeface="Times New Roman"/>
              </a:rPr>
              <a:t>System Design &amp; Architecture</a:t>
            </a:r>
            <a:endParaRPr sz="1300"/>
          </a:p>
          <a:p>
            <a:pPr indent="-374650" lvl="0" marL="457200" marR="0" rtl="0" algn="l">
              <a:lnSpc>
                <a:spcPct val="150000"/>
              </a:lnSpc>
              <a:spcBef>
                <a:spcPts val="0"/>
              </a:spcBef>
              <a:spcAft>
                <a:spcPts val="0"/>
              </a:spcAft>
              <a:buClr>
                <a:srgbClr val="052358"/>
              </a:buClr>
              <a:buSzPts val="2300"/>
              <a:buFont typeface="Times New Roman"/>
              <a:buChar char="●"/>
            </a:pPr>
            <a:r>
              <a:rPr b="0" i="0" lang="en-IN" sz="2300" u="none" cap="none" strike="noStrike">
                <a:solidFill>
                  <a:srgbClr val="052358"/>
                </a:solidFill>
                <a:latin typeface="Times New Roman"/>
                <a:ea typeface="Times New Roman"/>
                <a:cs typeface="Times New Roman"/>
                <a:sym typeface="Times New Roman"/>
              </a:rPr>
              <a:t>Proposed Methodology( Algorithm / Flowchart etc)</a:t>
            </a:r>
            <a:endParaRPr sz="1300"/>
          </a:p>
          <a:p>
            <a:pPr indent="-374650" lvl="0" marL="457200" marR="0" rtl="0" algn="l">
              <a:lnSpc>
                <a:spcPct val="150000"/>
              </a:lnSpc>
              <a:spcBef>
                <a:spcPts val="0"/>
              </a:spcBef>
              <a:spcAft>
                <a:spcPts val="0"/>
              </a:spcAft>
              <a:buClr>
                <a:srgbClr val="052358"/>
              </a:buClr>
              <a:buSzPts val="2300"/>
              <a:buFont typeface="Times New Roman"/>
              <a:buChar char="●"/>
            </a:pPr>
            <a:r>
              <a:rPr b="0" i="0" lang="en-IN" sz="2300" u="none" cap="none" strike="noStrike">
                <a:solidFill>
                  <a:srgbClr val="052358"/>
                </a:solidFill>
                <a:latin typeface="Times New Roman"/>
                <a:ea typeface="Times New Roman"/>
                <a:cs typeface="Times New Roman"/>
                <a:sym typeface="Times New Roman"/>
              </a:rPr>
              <a:t>Video &amp; Audio demonstration of Running Project(5Mins)</a:t>
            </a:r>
            <a:endParaRPr sz="1300"/>
          </a:p>
          <a:p>
            <a:pPr indent="-374650" lvl="0" marL="457200" marR="0" rtl="0" algn="l">
              <a:lnSpc>
                <a:spcPct val="150000"/>
              </a:lnSpc>
              <a:spcBef>
                <a:spcPts val="0"/>
              </a:spcBef>
              <a:spcAft>
                <a:spcPts val="0"/>
              </a:spcAft>
              <a:buClr>
                <a:srgbClr val="052358"/>
              </a:buClr>
              <a:buSzPts val="2300"/>
              <a:buFont typeface="Times New Roman"/>
              <a:buChar char="●"/>
            </a:pPr>
            <a:r>
              <a:rPr b="0" i="0" lang="en-IN" sz="2300" u="none" cap="none" strike="noStrike">
                <a:solidFill>
                  <a:srgbClr val="052358"/>
                </a:solidFill>
                <a:latin typeface="Times New Roman"/>
                <a:ea typeface="Times New Roman"/>
                <a:cs typeface="Times New Roman"/>
                <a:sym typeface="Times New Roman"/>
              </a:rPr>
              <a:t>Results</a:t>
            </a:r>
            <a:endParaRPr sz="1300"/>
          </a:p>
          <a:p>
            <a:pPr indent="-374650" lvl="0" marL="457200" marR="0" rtl="0" algn="l">
              <a:lnSpc>
                <a:spcPct val="150000"/>
              </a:lnSpc>
              <a:spcBef>
                <a:spcPts val="0"/>
              </a:spcBef>
              <a:spcAft>
                <a:spcPts val="0"/>
              </a:spcAft>
              <a:buClr>
                <a:srgbClr val="052358"/>
              </a:buClr>
              <a:buSzPts val="2300"/>
              <a:buFont typeface="Times New Roman"/>
              <a:buChar char="●"/>
            </a:pPr>
            <a:r>
              <a:rPr b="0" i="0" lang="en-IN" sz="2300" u="none" cap="none" strike="noStrike">
                <a:solidFill>
                  <a:srgbClr val="052358"/>
                </a:solidFill>
                <a:latin typeface="Times New Roman"/>
                <a:ea typeface="Times New Roman"/>
                <a:cs typeface="Times New Roman"/>
                <a:sym typeface="Times New Roman"/>
              </a:rPr>
              <a:t>Conclusion </a:t>
            </a:r>
            <a:endParaRPr sz="1300"/>
          </a:p>
          <a:p>
            <a:pPr indent="-374650" lvl="0" marL="457200" marR="0" rtl="0" algn="l">
              <a:lnSpc>
                <a:spcPct val="150000"/>
              </a:lnSpc>
              <a:spcBef>
                <a:spcPts val="0"/>
              </a:spcBef>
              <a:spcAft>
                <a:spcPts val="0"/>
              </a:spcAft>
              <a:buClr>
                <a:srgbClr val="052358"/>
              </a:buClr>
              <a:buSzPts val="2300"/>
              <a:buFont typeface="Times New Roman"/>
              <a:buChar char="●"/>
            </a:pPr>
            <a:r>
              <a:rPr b="0" i="0" lang="en-IN" sz="2300" u="none" cap="none" strike="noStrike">
                <a:solidFill>
                  <a:srgbClr val="052358"/>
                </a:solidFill>
                <a:latin typeface="Times New Roman"/>
                <a:ea typeface="Times New Roman"/>
                <a:cs typeface="Times New Roman"/>
                <a:sym typeface="Times New Roman"/>
              </a:rPr>
              <a:t>References</a:t>
            </a:r>
            <a:endParaRPr sz="1300"/>
          </a:p>
          <a:p>
            <a:pPr indent="0" lvl="0" marL="0" marR="0" rtl="0" algn="l">
              <a:lnSpc>
                <a:spcPct val="100000"/>
              </a:lnSpc>
              <a:spcBef>
                <a:spcPts val="0"/>
              </a:spcBef>
              <a:spcAft>
                <a:spcPts val="0"/>
              </a:spcAft>
              <a:buClr>
                <a:srgbClr val="000000"/>
              </a:buClr>
              <a:buSzPts val="31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400" u="none" cap="none" strike="noStrike">
              <a:solidFill>
                <a:srgbClr val="C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4"/>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108" name="Google Shape;108;p4"/>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109" name="Google Shape;109;p4"/>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110" name="Google Shape;110;p4"/>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111" name="Google Shape;111;p4"/>
          <p:cNvSpPr txBox="1"/>
          <p:nvPr/>
        </p:nvSpPr>
        <p:spPr>
          <a:xfrm>
            <a:off x="1182000" y="1634625"/>
            <a:ext cx="11010000" cy="4240658"/>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rPr b="0" i="0" lang="en-IN" sz="2000" u="none" cap="none" strike="noStrike">
                <a:solidFill>
                  <a:srgbClr val="052358"/>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05235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6E3F0C"/>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700"/>
              <a:buFont typeface="Arial"/>
              <a:buNone/>
            </a:pPr>
            <a:r>
              <a:rPr b="1" i="0" lang="en-IN" sz="1700" u="none" cap="none" strike="noStrike">
                <a:solidFill>
                  <a:srgbClr val="C00000"/>
                </a:solidFill>
                <a:latin typeface="Times New Roman"/>
                <a:ea typeface="Times New Roman"/>
                <a:cs typeface="Times New Roman"/>
                <a:sym typeface="Times New Roman"/>
              </a:rPr>
              <a:t>     						</a:t>
            </a:r>
            <a:r>
              <a:rPr b="0" i="0" lang="en-IN" sz="1700" u="none" cap="none" strike="noStrike">
                <a:solidFill>
                  <a:srgbClr val="000000"/>
                </a:solidFill>
                <a:latin typeface="Times New Roman"/>
                <a:ea typeface="Times New Roman"/>
                <a:cs typeface="Times New Roman"/>
                <a:sym typeface="Times New Roman"/>
              </a:rPr>
              <a:t>			               </a:t>
            </a:r>
            <a:endParaRPr b="0" i="0" sz="11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p:txBody>
      </p:sp>
      <p:sp>
        <p:nvSpPr>
          <p:cNvPr descr="image.png" id="112" name="Google Shape;112;p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image.png" id="113" name="Google Shape;113;p4"/>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C:\Users\Aarti Sahitya\Desktop\collegelogo1.PNG" id="114" name="Google Shape;114;p4"/>
          <p:cNvPicPr preferRelativeResize="0"/>
          <p:nvPr/>
        </p:nvPicPr>
        <p:blipFill rotWithShape="1">
          <a:blip r:embed="rId6">
            <a:alphaModFix/>
          </a:blip>
          <a:srcRect b="0" l="0" r="0" t="0"/>
          <a:stretch/>
        </p:blipFill>
        <p:spPr>
          <a:xfrm>
            <a:off x="1299625" y="48720"/>
            <a:ext cx="7655189" cy="1307114"/>
          </a:xfrm>
          <a:prstGeom prst="rect">
            <a:avLst/>
          </a:prstGeom>
          <a:noFill/>
          <a:ln>
            <a:noFill/>
          </a:ln>
        </p:spPr>
      </p:pic>
      <p:sp>
        <p:nvSpPr>
          <p:cNvPr id="115" name="Google Shape;115;p4"/>
          <p:cNvSpPr txBox="1"/>
          <p:nvPr/>
        </p:nvSpPr>
        <p:spPr>
          <a:xfrm>
            <a:off x="1394292" y="1436943"/>
            <a:ext cx="7980935" cy="642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rPr b="1" i="0" lang="en-IN" sz="3200" u="none" cap="none" strike="noStrike">
                <a:solidFill>
                  <a:srgbClr val="C00000"/>
                </a:solidFill>
                <a:latin typeface="Times New Roman"/>
                <a:ea typeface="Times New Roman"/>
                <a:cs typeface="Times New Roman"/>
                <a:sym typeface="Times New Roman"/>
              </a:rPr>
              <a:t>Introduction</a:t>
            </a:r>
            <a:endParaRPr b="1" i="0" sz="32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400" u="none" cap="none" strike="noStrike">
              <a:solidFill>
                <a:srgbClr val="C00000"/>
              </a:solidFill>
              <a:latin typeface="Times New Roman"/>
              <a:ea typeface="Times New Roman"/>
              <a:cs typeface="Times New Roman"/>
              <a:sym typeface="Times New Roman"/>
            </a:endParaRPr>
          </a:p>
        </p:txBody>
      </p:sp>
      <p:sp>
        <p:nvSpPr>
          <p:cNvPr id="116" name="Google Shape;116;p4"/>
          <p:cNvSpPr txBox="1"/>
          <p:nvPr/>
        </p:nvSpPr>
        <p:spPr>
          <a:xfrm>
            <a:off x="1628550" y="2160375"/>
            <a:ext cx="8934900" cy="171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Heart disease remains one of the leading causes of mortality globally, making early detection and timely intervention of utmost importance. Electrocardiogram (ECG) data, which measures the electrical activity of the heart, holds the potential to revolutionize the detection and diagnosis of heart conditions. With the continuous advancements in technology and the advent of smartwatches equipped with ECG sensors, it is now possible to monitor the heart's electrical signals conveniently and unobtrusively.</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This project aims to harness the power of ECG data sent from smartwatches to develop an efficient and accurate heart disease detection system. By analyzing the ECG signals collected over extended periods from a diverse population of users, we intend to create a robust algorithm capable of identifying various heart conditions, such as arrhythmias, atrial fibrillation, and other abnormalities.</a:t>
            </a:r>
            <a:endParaRPr sz="2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g2c968d88648_0_251"/>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122" name="Google Shape;122;g2c968d88648_0_251"/>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123" name="Google Shape;123;g2c968d88648_0_251"/>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124" name="Google Shape;124;g2c968d88648_0_251"/>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125" name="Google Shape;125;g2c968d88648_0_251"/>
          <p:cNvSpPr txBox="1"/>
          <p:nvPr/>
        </p:nvSpPr>
        <p:spPr>
          <a:xfrm>
            <a:off x="1182000" y="1634625"/>
            <a:ext cx="11010000" cy="4240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rPr b="0" i="0" lang="en-IN" sz="2000" u="none" cap="none" strike="noStrike">
                <a:solidFill>
                  <a:srgbClr val="052358"/>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05235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6E3F0C"/>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700"/>
              <a:buFont typeface="Arial"/>
              <a:buNone/>
            </a:pPr>
            <a:r>
              <a:rPr b="1" i="0" lang="en-IN" sz="1700" u="none" cap="none" strike="noStrike">
                <a:solidFill>
                  <a:srgbClr val="C00000"/>
                </a:solidFill>
                <a:latin typeface="Times New Roman"/>
                <a:ea typeface="Times New Roman"/>
                <a:cs typeface="Times New Roman"/>
                <a:sym typeface="Times New Roman"/>
              </a:rPr>
              <a:t>     						</a:t>
            </a:r>
            <a:r>
              <a:rPr b="0" i="0" lang="en-IN" sz="1700" u="none" cap="none" strike="noStrike">
                <a:solidFill>
                  <a:srgbClr val="000000"/>
                </a:solidFill>
                <a:latin typeface="Times New Roman"/>
                <a:ea typeface="Times New Roman"/>
                <a:cs typeface="Times New Roman"/>
                <a:sym typeface="Times New Roman"/>
              </a:rPr>
              <a:t>			               </a:t>
            </a:r>
            <a:endParaRPr b="0" i="0" sz="11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p:txBody>
      </p:sp>
      <p:sp>
        <p:nvSpPr>
          <p:cNvPr descr="image.png" id="126" name="Google Shape;126;g2c968d88648_0_251"/>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image.png" id="127" name="Google Shape;127;g2c968d88648_0_251"/>
          <p:cNvSpPr/>
          <p:nvPr/>
        </p:nvSpPr>
        <p:spPr>
          <a:xfrm>
            <a:off x="307975" y="7937"/>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C:\Users\Aarti Sahitya\Desktop\collegelogo1.PNG" id="128" name="Google Shape;128;g2c968d88648_0_251"/>
          <p:cNvPicPr preferRelativeResize="0"/>
          <p:nvPr/>
        </p:nvPicPr>
        <p:blipFill rotWithShape="1">
          <a:blip r:embed="rId6">
            <a:alphaModFix/>
          </a:blip>
          <a:srcRect b="0" l="0" r="0" t="0"/>
          <a:stretch/>
        </p:blipFill>
        <p:spPr>
          <a:xfrm>
            <a:off x="1299625" y="48720"/>
            <a:ext cx="7655189" cy="1307114"/>
          </a:xfrm>
          <a:prstGeom prst="rect">
            <a:avLst/>
          </a:prstGeom>
          <a:noFill/>
          <a:ln>
            <a:noFill/>
          </a:ln>
        </p:spPr>
      </p:pic>
      <p:sp>
        <p:nvSpPr>
          <p:cNvPr id="129" name="Google Shape;129;g2c968d88648_0_251"/>
          <p:cNvSpPr txBox="1"/>
          <p:nvPr/>
        </p:nvSpPr>
        <p:spPr>
          <a:xfrm>
            <a:off x="1394292" y="1436943"/>
            <a:ext cx="7980900" cy="642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rPr b="1" lang="en-IN" sz="3200">
                <a:solidFill>
                  <a:srgbClr val="C00000"/>
                </a:solidFill>
                <a:latin typeface="Times New Roman"/>
                <a:ea typeface="Times New Roman"/>
                <a:cs typeface="Times New Roman"/>
                <a:sym typeface="Times New Roman"/>
              </a:rPr>
              <a:t>ECG Waves</a:t>
            </a:r>
            <a:endParaRPr b="1" i="0" sz="32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400" u="none" cap="none" strike="noStrike">
              <a:solidFill>
                <a:srgbClr val="C00000"/>
              </a:solidFill>
              <a:latin typeface="Times New Roman"/>
              <a:ea typeface="Times New Roman"/>
              <a:cs typeface="Times New Roman"/>
              <a:sym typeface="Times New Roman"/>
            </a:endParaRPr>
          </a:p>
        </p:txBody>
      </p:sp>
      <p:sp>
        <p:nvSpPr>
          <p:cNvPr id="130" name="Google Shape;130;g2c968d88648_0_251"/>
          <p:cNvSpPr txBox="1"/>
          <p:nvPr/>
        </p:nvSpPr>
        <p:spPr>
          <a:xfrm>
            <a:off x="1628550" y="2160375"/>
            <a:ext cx="5783400" cy="171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2000"/>
              <a:buFont typeface="Arial"/>
              <a:buNone/>
            </a:pPr>
            <a:r>
              <a:rPr b="1" lang="en-IN" sz="2000">
                <a:solidFill>
                  <a:schemeClr val="dk1"/>
                </a:solidFill>
                <a:latin typeface="Times New Roman"/>
                <a:ea typeface="Times New Roman"/>
                <a:cs typeface="Times New Roman"/>
                <a:sym typeface="Times New Roman"/>
              </a:rPr>
              <a:t>P Wave</a:t>
            </a:r>
            <a:r>
              <a:rPr lang="en-IN" sz="2000">
                <a:solidFill>
                  <a:schemeClr val="dk1"/>
                </a:solidFill>
                <a:latin typeface="Times New Roman"/>
                <a:ea typeface="Times New Roman"/>
                <a:cs typeface="Times New Roman"/>
                <a:sym typeface="Times New Roman"/>
              </a:rPr>
              <a:t>: Represents atrial depolarization and electrical activation of the atria.</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2000"/>
              <a:buFont typeface="Arial"/>
              <a:buNone/>
            </a:pPr>
            <a:r>
              <a:rPr b="1" lang="en-IN" sz="2000">
                <a:solidFill>
                  <a:schemeClr val="dk1"/>
                </a:solidFill>
                <a:latin typeface="Times New Roman"/>
                <a:ea typeface="Times New Roman"/>
                <a:cs typeface="Times New Roman"/>
                <a:sym typeface="Times New Roman"/>
              </a:rPr>
              <a:t>PR Interval</a:t>
            </a:r>
            <a:r>
              <a:rPr lang="en-IN" sz="2000">
                <a:solidFill>
                  <a:schemeClr val="dk1"/>
                </a:solidFill>
                <a:latin typeface="Times New Roman"/>
                <a:ea typeface="Times New Roman"/>
                <a:cs typeface="Times New Roman"/>
                <a:sym typeface="Times New Roman"/>
              </a:rPr>
              <a:t>: Denotes the time between the P wave and the QRS complex, allowing for ventricular filling.</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2000"/>
              <a:buFont typeface="Arial"/>
              <a:buNone/>
            </a:pPr>
            <a:r>
              <a:rPr b="1" lang="en-IN" sz="2000">
                <a:solidFill>
                  <a:schemeClr val="dk1"/>
                </a:solidFill>
                <a:latin typeface="Times New Roman"/>
                <a:ea typeface="Times New Roman"/>
                <a:cs typeface="Times New Roman"/>
                <a:sym typeface="Times New Roman"/>
              </a:rPr>
              <a:t>QRS Complex</a:t>
            </a:r>
            <a:r>
              <a:rPr lang="en-IN" sz="2000">
                <a:solidFill>
                  <a:schemeClr val="dk1"/>
                </a:solidFill>
                <a:latin typeface="Times New Roman"/>
                <a:ea typeface="Times New Roman"/>
                <a:cs typeface="Times New Roman"/>
                <a:sym typeface="Times New Roman"/>
              </a:rPr>
              <a:t>: Signifies ventricular depolarization and activation leading to ventricular contraction.</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2000"/>
              <a:buFont typeface="Arial"/>
              <a:buNone/>
            </a:pPr>
            <a:r>
              <a:rPr b="1" lang="en-IN" sz="2000">
                <a:solidFill>
                  <a:schemeClr val="dk1"/>
                </a:solidFill>
                <a:latin typeface="Times New Roman"/>
                <a:ea typeface="Times New Roman"/>
                <a:cs typeface="Times New Roman"/>
                <a:sym typeface="Times New Roman"/>
              </a:rPr>
              <a:t>ST Segment</a:t>
            </a:r>
            <a:r>
              <a:rPr lang="en-IN" sz="2000">
                <a:solidFill>
                  <a:schemeClr val="dk1"/>
                </a:solidFill>
                <a:latin typeface="Times New Roman"/>
                <a:ea typeface="Times New Roman"/>
                <a:cs typeface="Times New Roman"/>
                <a:sym typeface="Times New Roman"/>
              </a:rPr>
              <a:t>: Follows the QRS complex and can indicate cardiac ischemia or injury.</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2000"/>
              <a:buFont typeface="Arial"/>
              <a:buNone/>
            </a:pPr>
            <a:r>
              <a:rPr b="1" lang="en-IN" sz="2000">
                <a:solidFill>
                  <a:schemeClr val="dk1"/>
                </a:solidFill>
                <a:latin typeface="Times New Roman"/>
                <a:ea typeface="Times New Roman"/>
                <a:cs typeface="Times New Roman"/>
                <a:sym typeface="Times New Roman"/>
              </a:rPr>
              <a:t>T Wave</a:t>
            </a:r>
            <a:r>
              <a:rPr lang="en-IN" sz="2000">
                <a:solidFill>
                  <a:schemeClr val="dk1"/>
                </a:solidFill>
                <a:latin typeface="Times New Roman"/>
                <a:ea typeface="Times New Roman"/>
                <a:cs typeface="Times New Roman"/>
                <a:sym typeface="Times New Roman"/>
              </a:rPr>
              <a:t>: Represents ventricular repolarization and readiness for the next contraction.</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2000"/>
              <a:buFont typeface="Arial"/>
              <a:buNone/>
            </a:pPr>
            <a:r>
              <a:rPr b="1" lang="en-IN" sz="2000">
                <a:solidFill>
                  <a:schemeClr val="dk1"/>
                </a:solidFill>
                <a:latin typeface="Times New Roman"/>
                <a:ea typeface="Times New Roman"/>
                <a:cs typeface="Times New Roman"/>
                <a:sym typeface="Times New Roman"/>
              </a:rPr>
              <a:t>QT Interval</a:t>
            </a:r>
            <a:r>
              <a:rPr lang="en-IN" sz="2000">
                <a:solidFill>
                  <a:schemeClr val="dk1"/>
                </a:solidFill>
                <a:latin typeface="Times New Roman"/>
                <a:ea typeface="Times New Roman"/>
                <a:cs typeface="Times New Roman"/>
                <a:sym typeface="Times New Roman"/>
              </a:rPr>
              <a:t>: Measures the time for ventricular depolarization and repolarization, with prolonged intervals associated with ventricular arrhythmia risk.</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pic>
        <p:nvPicPr>
          <p:cNvPr id="131" name="Google Shape;131;g2c968d88648_0_251"/>
          <p:cNvPicPr preferRelativeResize="0"/>
          <p:nvPr/>
        </p:nvPicPr>
        <p:blipFill rotWithShape="1">
          <a:blip r:embed="rId7">
            <a:alphaModFix/>
          </a:blip>
          <a:srcRect b="0" l="0" r="0" t="0"/>
          <a:stretch/>
        </p:blipFill>
        <p:spPr>
          <a:xfrm>
            <a:off x="7555250" y="3877286"/>
            <a:ext cx="4636749" cy="2608164"/>
          </a:xfrm>
          <a:prstGeom prst="rect">
            <a:avLst/>
          </a:prstGeom>
          <a:noFill/>
          <a:ln>
            <a:noFill/>
          </a:ln>
        </p:spPr>
      </p:pic>
      <p:pic>
        <p:nvPicPr>
          <p:cNvPr id="132" name="Google Shape;132;g2c968d88648_0_251"/>
          <p:cNvPicPr preferRelativeResize="0"/>
          <p:nvPr/>
        </p:nvPicPr>
        <p:blipFill rotWithShape="1">
          <a:blip r:embed="rId8">
            <a:alphaModFix/>
          </a:blip>
          <a:srcRect b="0" l="0" r="0" t="0"/>
          <a:stretch/>
        </p:blipFill>
        <p:spPr>
          <a:xfrm>
            <a:off x="8193900" y="160325"/>
            <a:ext cx="3797001" cy="37970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g2c968d88648_0_1"/>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138" name="Google Shape;138;g2c968d88648_0_1"/>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139" name="Google Shape;139;g2c968d88648_0_1"/>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140" name="Google Shape;140;g2c968d88648_0_1"/>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141" name="Google Shape;141;g2c968d88648_0_1"/>
          <p:cNvSpPr txBox="1"/>
          <p:nvPr/>
        </p:nvSpPr>
        <p:spPr>
          <a:xfrm>
            <a:off x="1182000" y="1634625"/>
            <a:ext cx="11010000" cy="4240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rPr b="0" i="0" lang="en-IN" sz="2000" u="none" cap="none" strike="noStrike">
                <a:solidFill>
                  <a:srgbClr val="052358"/>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05235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6E3F0C"/>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700"/>
              <a:buFont typeface="Arial"/>
              <a:buNone/>
            </a:pPr>
            <a:r>
              <a:rPr b="1" i="0" lang="en-IN" sz="1700" u="none" cap="none" strike="noStrike">
                <a:solidFill>
                  <a:srgbClr val="C00000"/>
                </a:solidFill>
                <a:latin typeface="Times New Roman"/>
                <a:ea typeface="Times New Roman"/>
                <a:cs typeface="Times New Roman"/>
                <a:sym typeface="Times New Roman"/>
              </a:rPr>
              <a:t>     						</a:t>
            </a:r>
            <a:r>
              <a:rPr b="0" i="0" lang="en-IN" sz="1700" u="none" cap="none" strike="noStrike">
                <a:solidFill>
                  <a:srgbClr val="000000"/>
                </a:solidFill>
                <a:latin typeface="Times New Roman"/>
                <a:ea typeface="Times New Roman"/>
                <a:cs typeface="Times New Roman"/>
                <a:sym typeface="Times New Roman"/>
              </a:rPr>
              <a:t>			               </a:t>
            </a:r>
            <a:endParaRPr b="0" i="0" sz="11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p:txBody>
      </p:sp>
      <p:sp>
        <p:nvSpPr>
          <p:cNvPr descr="image.png" id="142" name="Google Shape;142;g2c968d88648_0_1"/>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image.png" id="143" name="Google Shape;143;g2c968d88648_0_1"/>
          <p:cNvSpPr/>
          <p:nvPr/>
        </p:nvSpPr>
        <p:spPr>
          <a:xfrm>
            <a:off x="307975" y="7937"/>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C:\Users\Aarti Sahitya\Desktop\collegelogo1.PNG" id="144" name="Google Shape;144;g2c968d88648_0_1"/>
          <p:cNvPicPr preferRelativeResize="0"/>
          <p:nvPr/>
        </p:nvPicPr>
        <p:blipFill rotWithShape="1">
          <a:blip r:embed="rId6">
            <a:alphaModFix/>
          </a:blip>
          <a:srcRect b="0" l="0" r="0" t="0"/>
          <a:stretch/>
        </p:blipFill>
        <p:spPr>
          <a:xfrm>
            <a:off x="1299625" y="48720"/>
            <a:ext cx="7655189" cy="1307114"/>
          </a:xfrm>
          <a:prstGeom prst="rect">
            <a:avLst/>
          </a:prstGeom>
          <a:noFill/>
          <a:ln>
            <a:noFill/>
          </a:ln>
        </p:spPr>
      </p:pic>
      <p:sp>
        <p:nvSpPr>
          <p:cNvPr id="145" name="Google Shape;145;g2c968d88648_0_1"/>
          <p:cNvSpPr txBox="1"/>
          <p:nvPr/>
        </p:nvSpPr>
        <p:spPr>
          <a:xfrm>
            <a:off x="1394292" y="1436943"/>
            <a:ext cx="7980900" cy="642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rPr b="1" lang="en-IN" sz="3200">
                <a:solidFill>
                  <a:srgbClr val="C00000"/>
                </a:solidFill>
                <a:latin typeface="Times New Roman"/>
                <a:ea typeface="Times New Roman"/>
                <a:cs typeface="Times New Roman"/>
                <a:sym typeface="Times New Roman"/>
              </a:rPr>
              <a:t>Problem Statement</a:t>
            </a:r>
            <a:endParaRPr b="1" i="0" sz="32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400" u="none" cap="none" strike="noStrike">
              <a:solidFill>
                <a:srgbClr val="C00000"/>
              </a:solidFill>
              <a:latin typeface="Times New Roman"/>
              <a:ea typeface="Times New Roman"/>
              <a:cs typeface="Times New Roman"/>
              <a:sym typeface="Times New Roman"/>
            </a:endParaRPr>
          </a:p>
        </p:txBody>
      </p:sp>
      <p:sp>
        <p:nvSpPr>
          <p:cNvPr id="146" name="Google Shape;146;g2c968d88648_0_1"/>
          <p:cNvSpPr txBox="1"/>
          <p:nvPr/>
        </p:nvSpPr>
        <p:spPr>
          <a:xfrm>
            <a:off x="1628550" y="2160375"/>
            <a:ext cx="8934900" cy="171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IN" sz="1800">
                <a:solidFill>
                  <a:schemeClr val="dk1"/>
                </a:solidFill>
                <a:latin typeface="Times New Roman"/>
                <a:ea typeface="Times New Roman"/>
                <a:cs typeface="Times New Roman"/>
                <a:sym typeface="Times New Roman"/>
              </a:rPr>
              <a:t>The problem addressed in this study is the detection and prediction of heart disease using machine learning algorithms. </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IN" sz="1800">
                <a:solidFill>
                  <a:schemeClr val="dk1"/>
                </a:solidFill>
                <a:latin typeface="Times New Roman"/>
                <a:ea typeface="Times New Roman"/>
                <a:cs typeface="Times New Roman"/>
                <a:sym typeface="Times New Roman"/>
              </a:rPr>
              <a:t>The traditional methods of heart disease diagnosis involve clinical assessments, medical history analysis, and diagnostic tests. While these approaches are valuable, they may have limitations in terms of accuracy and efficiency, especially in detecting subtle patterns and risk factors that might lead to heart disease.</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IN" sz="1800">
                <a:solidFill>
                  <a:schemeClr val="dk1"/>
                </a:solidFill>
                <a:latin typeface="Times New Roman"/>
                <a:ea typeface="Times New Roman"/>
                <a:cs typeface="Times New Roman"/>
                <a:sym typeface="Times New Roman"/>
              </a:rPr>
              <a:t>Machine learning algorithms offer the potential to overcome these limitations by analyzing large datasets containing patient information, including vital signs, medical records, lifestyle factors, and test results. By learning from historical data, ML algorithms can develop predictive models that identify individuals at high risk of developing heart disease.</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3"/>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152" name="Google Shape;152;p3"/>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153" name="Google Shape;153;p3"/>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154" name="Google Shape;154;p3"/>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155" name="Google Shape;155;p3"/>
          <p:cNvSpPr txBox="1"/>
          <p:nvPr/>
        </p:nvSpPr>
        <p:spPr>
          <a:xfrm>
            <a:off x="1182000" y="1634625"/>
            <a:ext cx="11010000" cy="4240658"/>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rPr b="0" i="0" lang="en-IN" sz="2000" u="none" cap="none" strike="noStrike">
                <a:solidFill>
                  <a:srgbClr val="052358"/>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05235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6E3F0C"/>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700"/>
              <a:buFont typeface="Arial"/>
              <a:buNone/>
            </a:pPr>
            <a:r>
              <a:rPr b="1" i="0" lang="en-IN" sz="1700" u="none" cap="none" strike="noStrike">
                <a:solidFill>
                  <a:srgbClr val="C00000"/>
                </a:solidFill>
                <a:latin typeface="Times New Roman"/>
                <a:ea typeface="Times New Roman"/>
                <a:cs typeface="Times New Roman"/>
                <a:sym typeface="Times New Roman"/>
              </a:rPr>
              <a:t>     						</a:t>
            </a:r>
            <a:r>
              <a:rPr b="0" i="0" lang="en-IN" sz="1700" u="none" cap="none" strike="noStrike">
                <a:solidFill>
                  <a:srgbClr val="000000"/>
                </a:solidFill>
                <a:latin typeface="Times New Roman"/>
                <a:ea typeface="Times New Roman"/>
                <a:cs typeface="Times New Roman"/>
                <a:sym typeface="Times New Roman"/>
              </a:rPr>
              <a:t>			               </a:t>
            </a:r>
            <a:endParaRPr b="0" i="0" sz="11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p:txBody>
      </p:sp>
      <p:sp>
        <p:nvSpPr>
          <p:cNvPr descr="image.png" id="156" name="Google Shape;156;p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image.png" id="157" name="Google Shape;157;p3"/>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C:\Users\Aarti Sahitya\Desktop\collegelogo1.PNG" id="158" name="Google Shape;158;p3"/>
          <p:cNvPicPr preferRelativeResize="0"/>
          <p:nvPr/>
        </p:nvPicPr>
        <p:blipFill rotWithShape="1">
          <a:blip r:embed="rId6">
            <a:alphaModFix/>
          </a:blip>
          <a:srcRect b="0" l="0" r="0" t="0"/>
          <a:stretch/>
        </p:blipFill>
        <p:spPr>
          <a:xfrm>
            <a:off x="1299625" y="48720"/>
            <a:ext cx="7655189" cy="1307114"/>
          </a:xfrm>
          <a:prstGeom prst="rect">
            <a:avLst/>
          </a:prstGeom>
          <a:noFill/>
          <a:ln>
            <a:noFill/>
          </a:ln>
        </p:spPr>
      </p:pic>
      <p:sp>
        <p:nvSpPr>
          <p:cNvPr id="159" name="Google Shape;159;p3"/>
          <p:cNvSpPr txBox="1"/>
          <p:nvPr/>
        </p:nvSpPr>
        <p:spPr>
          <a:xfrm>
            <a:off x="1394292" y="1436943"/>
            <a:ext cx="7980900" cy="642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rPr b="1" i="0" lang="en-IN" sz="2400" u="none" cap="none" strike="noStrike">
                <a:solidFill>
                  <a:srgbClr val="C00000"/>
                </a:solidFill>
                <a:latin typeface="Times New Roman"/>
                <a:ea typeface="Times New Roman"/>
                <a:cs typeface="Times New Roman"/>
                <a:sym typeface="Times New Roman"/>
              </a:rPr>
              <a:t>Finding of Literature Survey</a:t>
            </a:r>
            <a:endParaRPr/>
          </a:p>
          <a:p>
            <a:pPr indent="0" lvl="0" marL="0" marR="0" rtl="0" algn="l">
              <a:lnSpc>
                <a:spcPct val="100000"/>
              </a:lnSpc>
              <a:spcBef>
                <a:spcPts val="0"/>
              </a:spcBef>
              <a:spcAft>
                <a:spcPts val="0"/>
              </a:spcAft>
              <a:buClr>
                <a:srgbClr val="000000"/>
              </a:buClr>
              <a:buSzPts val="31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400" u="none" cap="none" strike="noStrike">
              <a:solidFill>
                <a:srgbClr val="C00000"/>
              </a:solidFill>
              <a:latin typeface="Times New Roman"/>
              <a:ea typeface="Times New Roman"/>
              <a:cs typeface="Times New Roman"/>
              <a:sym typeface="Times New Roman"/>
            </a:endParaRPr>
          </a:p>
        </p:txBody>
      </p:sp>
      <p:sp>
        <p:nvSpPr>
          <p:cNvPr id="160" name="Google Shape;160;p3"/>
          <p:cNvSpPr txBox="1"/>
          <p:nvPr/>
        </p:nvSpPr>
        <p:spPr>
          <a:xfrm>
            <a:off x="1469388" y="1996175"/>
            <a:ext cx="9820800" cy="299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In this paper [1] we learned that Electrocardiogram (ECG) signals represent the electrical activity of the human hearts and consist of several waveforms (P, QRS, and T). The duration and shape of each waveform and the distances between different peaks are used to diagnose heart diseases. In this work, to better analyze ECG signals, a new algorithm that exploits two-event related moving-averages (TERMA) and fractional-Fourier-transform (FrFT) algorithms is proposed. The TERMA algorithm specifies certain areas of interest to locate desired peak, while the FrFT rotates ECG signals in the time-frequency plane to manifest the locations of various peaks. The proposed algorithm’s performance outperforms state-of-the-art algorithms.</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In the papers [2] &amp;[3] we explored the use of various supervised ML algorithms for heart disease detection. These algorithms include Artificial Neural Network (ANN), Decision Tree (DT), Random Forest (RF), Support Vector Machine (SVM), Naïve Bayes (NB), and k-Nearest Neighbor (k-NN) algorithm. Each of these algorithms possesses unique strengths and capabilities, making them suitable candidates for heart disease prediction tasks. We aim to compare and evaluate the performances of these algorithms to determine their efficiency in identifying individuals at risk of heart disease.</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g2c968d88648_0_18"/>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166" name="Google Shape;166;g2c968d88648_0_18"/>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167" name="Google Shape;167;g2c968d88648_0_18"/>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168" name="Google Shape;168;g2c968d88648_0_18"/>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169" name="Google Shape;169;g2c968d88648_0_18"/>
          <p:cNvSpPr txBox="1"/>
          <p:nvPr/>
        </p:nvSpPr>
        <p:spPr>
          <a:xfrm>
            <a:off x="1182000" y="1634625"/>
            <a:ext cx="11010000" cy="4240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rPr b="0" i="0" lang="en-IN" sz="2000" u="none" cap="none" strike="noStrike">
                <a:solidFill>
                  <a:srgbClr val="052358"/>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05235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6E3F0C"/>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700"/>
              <a:buFont typeface="Arial"/>
              <a:buNone/>
            </a:pPr>
            <a:r>
              <a:rPr b="1" i="0" lang="en-IN" sz="1700" u="none" cap="none" strike="noStrike">
                <a:solidFill>
                  <a:srgbClr val="C00000"/>
                </a:solidFill>
                <a:latin typeface="Times New Roman"/>
                <a:ea typeface="Times New Roman"/>
                <a:cs typeface="Times New Roman"/>
                <a:sym typeface="Times New Roman"/>
              </a:rPr>
              <a:t>     						</a:t>
            </a:r>
            <a:r>
              <a:rPr b="0" i="0" lang="en-IN" sz="1700" u="none" cap="none" strike="noStrike">
                <a:solidFill>
                  <a:srgbClr val="000000"/>
                </a:solidFill>
                <a:latin typeface="Times New Roman"/>
                <a:ea typeface="Times New Roman"/>
                <a:cs typeface="Times New Roman"/>
                <a:sym typeface="Times New Roman"/>
              </a:rPr>
              <a:t>			               </a:t>
            </a:r>
            <a:endParaRPr b="0" i="0" sz="11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p:txBody>
      </p:sp>
      <p:sp>
        <p:nvSpPr>
          <p:cNvPr descr="image.png" id="170" name="Google Shape;170;g2c968d88648_0_18"/>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image.png" id="171" name="Google Shape;171;g2c968d88648_0_18"/>
          <p:cNvSpPr/>
          <p:nvPr/>
        </p:nvSpPr>
        <p:spPr>
          <a:xfrm>
            <a:off x="307975" y="7937"/>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C:\Users\Aarti Sahitya\Desktop\collegelogo1.PNG" id="172" name="Google Shape;172;g2c968d88648_0_18"/>
          <p:cNvPicPr preferRelativeResize="0"/>
          <p:nvPr/>
        </p:nvPicPr>
        <p:blipFill rotWithShape="1">
          <a:blip r:embed="rId6">
            <a:alphaModFix/>
          </a:blip>
          <a:srcRect b="0" l="0" r="0" t="0"/>
          <a:stretch/>
        </p:blipFill>
        <p:spPr>
          <a:xfrm>
            <a:off x="1299625" y="48720"/>
            <a:ext cx="7655189" cy="1307114"/>
          </a:xfrm>
          <a:prstGeom prst="rect">
            <a:avLst/>
          </a:prstGeom>
          <a:noFill/>
          <a:ln>
            <a:noFill/>
          </a:ln>
        </p:spPr>
      </p:pic>
      <p:sp>
        <p:nvSpPr>
          <p:cNvPr id="173" name="Google Shape;173;g2c968d88648_0_18"/>
          <p:cNvSpPr txBox="1"/>
          <p:nvPr/>
        </p:nvSpPr>
        <p:spPr>
          <a:xfrm>
            <a:off x="1394292" y="1436943"/>
            <a:ext cx="7980900" cy="642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rPr b="1" i="0" lang="en-IN" sz="2400" u="none" cap="none" strike="noStrike">
                <a:solidFill>
                  <a:srgbClr val="C00000"/>
                </a:solidFill>
                <a:latin typeface="Times New Roman"/>
                <a:ea typeface="Times New Roman"/>
                <a:cs typeface="Times New Roman"/>
                <a:sym typeface="Times New Roman"/>
              </a:rPr>
              <a:t>Finding of Literature Survey</a:t>
            </a:r>
            <a:endParaRPr/>
          </a:p>
          <a:p>
            <a:pPr indent="0" lvl="0" marL="0" marR="0" rtl="0" algn="l">
              <a:lnSpc>
                <a:spcPct val="100000"/>
              </a:lnSpc>
              <a:spcBef>
                <a:spcPts val="0"/>
              </a:spcBef>
              <a:spcAft>
                <a:spcPts val="0"/>
              </a:spcAft>
              <a:buClr>
                <a:srgbClr val="000000"/>
              </a:buClr>
              <a:buSzPts val="31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400" u="none" cap="none" strike="noStrike">
              <a:solidFill>
                <a:srgbClr val="C00000"/>
              </a:solidFill>
              <a:latin typeface="Times New Roman"/>
              <a:ea typeface="Times New Roman"/>
              <a:cs typeface="Times New Roman"/>
              <a:sym typeface="Times New Roman"/>
            </a:endParaRPr>
          </a:p>
        </p:txBody>
      </p:sp>
      <p:sp>
        <p:nvSpPr>
          <p:cNvPr id="174" name="Google Shape;174;g2c968d88648_0_18"/>
          <p:cNvSpPr txBox="1"/>
          <p:nvPr/>
        </p:nvSpPr>
        <p:spPr>
          <a:xfrm>
            <a:off x="1469375" y="2079250"/>
            <a:ext cx="9820800" cy="299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IN" sz="1800">
                <a:solidFill>
                  <a:schemeClr val="dk1"/>
                </a:solidFill>
                <a:latin typeface="Times New Roman"/>
                <a:ea typeface="Times New Roman"/>
                <a:cs typeface="Times New Roman"/>
                <a:sym typeface="Times New Roman"/>
              </a:rPr>
              <a:t>In [4]: SVM and CNN models are compared for classifying ECG signals with an average accuracy of 87.2% using AlexNet, demonstrating the superiority of deep learning over traditional SVM.</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800">
                <a:solidFill>
                  <a:schemeClr val="dk1"/>
                </a:solidFill>
                <a:latin typeface="Times New Roman"/>
                <a:ea typeface="Times New Roman"/>
                <a:cs typeface="Times New Roman"/>
                <a:sym typeface="Times New Roman"/>
              </a:rPr>
              <a:t>While [5] proposes using Wavelet Transform and machine learning algorithms, achieving the highest accuracy of 99.4% with linear SVM for classifying cardiac ventricular arrhythmias from ECG signals.</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800">
                <a:solidFill>
                  <a:schemeClr val="dk1"/>
                </a:solidFill>
                <a:latin typeface="Times New Roman"/>
                <a:ea typeface="Times New Roman"/>
                <a:cs typeface="Times New Roman"/>
                <a:sym typeface="Times New Roman"/>
              </a:rPr>
              <a:t>The main focus of [6] is using Convolutional Neural Networks (CNN) to classify ECG signals with a total of 17 classes and achieves promising results in terms of accuracy.</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Clr>
                <a:schemeClr val="dk1"/>
              </a:buClr>
              <a:buSzPts val="1100"/>
              <a:buFont typeface="Arial"/>
              <a:buNone/>
            </a:pPr>
            <a:r>
              <a:rPr lang="en-IN" sz="1800">
                <a:solidFill>
                  <a:schemeClr val="dk1"/>
                </a:solidFill>
                <a:latin typeface="Times New Roman"/>
                <a:ea typeface="Times New Roman"/>
                <a:cs typeface="Times New Roman"/>
                <a:sym typeface="Times New Roman"/>
              </a:rPr>
              <a:t>Based on the provided information, [5] appears to be the best due to its higher accuracy and effective use of machine learning techniques like Wavelet Transform and SVM. To further improve the classification results, a potential new approach could be combining the deep learning architecture (CNN) from [6] with the feature extraction methods (Wavelet Transform) and SVM classifier from [5]. This hybrid approach may enhance feature representation and classification performance for ECG signal analysis.</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g2c968d88648_0_34"/>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180" name="Google Shape;180;g2c968d88648_0_34"/>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181" name="Google Shape;181;g2c968d88648_0_34"/>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182" name="Google Shape;182;g2c968d88648_0_34"/>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183" name="Google Shape;183;g2c968d88648_0_34"/>
          <p:cNvSpPr txBox="1"/>
          <p:nvPr/>
        </p:nvSpPr>
        <p:spPr>
          <a:xfrm>
            <a:off x="1182000" y="1634625"/>
            <a:ext cx="11010000" cy="4240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rPr b="0" i="0" lang="en-IN" sz="2000" u="none" cap="none" strike="noStrike">
                <a:solidFill>
                  <a:srgbClr val="052358"/>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05235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6E3F0C"/>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700"/>
              <a:buFont typeface="Arial"/>
              <a:buNone/>
            </a:pPr>
            <a:r>
              <a:rPr b="1" i="0" lang="en-IN" sz="1700" u="none" cap="none" strike="noStrike">
                <a:solidFill>
                  <a:srgbClr val="C00000"/>
                </a:solidFill>
                <a:latin typeface="Times New Roman"/>
                <a:ea typeface="Times New Roman"/>
                <a:cs typeface="Times New Roman"/>
                <a:sym typeface="Times New Roman"/>
              </a:rPr>
              <a:t>     						</a:t>
            </a:r>
            <a:r>
              <a:rPr b="0" i="0" lang="en-IN" sz="1700" u="none" cap="none" strike="noStrike">
                <a:solidFill>
                  <a:srgbClr val="000000"/>
                </a:solidFill>
                <a:latin typeface="Times New Roman"/>
                <a:ea typeface="Times New Roman"/>
                <a:cs typeface="Times New Roman"/>
                <a:sym typeface="Times New Roman"/>
              </a:rPr>
              <a:t>			               </a:t>
            </a:r>
            <a:endParaRPr b="0" i="0" sz="11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p:txBody>
      </p:sp>
      <p:sp>
        <p:nvSpPr>
          <p:cNvPr descr="image.png" id="184" name="Google Shape;184;g2c968d88648_0_34"/>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image.png" id="185" name="Google Shape;185;g2c968d88648_0_34"/>
          <p:cNvSpPr/>
          <p:nvPr/>
        </p:nvSpPr>
        <p:spPr>
          <a:xfrm>
            <a:off x="307975" y="7937"/>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C:\Users\Aarti Sahitya\Desktop\collegelogo1.PNG" id="186" name="Google Shape;186;g2c968d88648_0_34"/>
          <p:cNvPicPr preferRelativeResize="0"/>
          <p:nvPr/>
        </p:nvPicPr>
        <p:blipFill rotWithShape="1">
          <a:blip r:embed="rId6">
            <a:alphaModFix/>
          </a:blip>
          <a:srcRect b="0" l="0" r="0" t="0"/>
          <a:stretch/>
        </p:blipFill>
        <p:spPr>
          <a:xfrm>
            <a:off x="1299625" y="48720"/>
            <a:ext cx="7655189" cy="1307114"/>
          </a:xfrm>
          <a:prstGeom prst="rect">
            <a:avLst/>
          </a:prstGeom>
          <a:noFill/>
          <a:ln>
            <a:noFill/>
          </a:ln>
        </p:spPr>
      </p:pic>
      <p:sp>
        <p:nvSpPr>
          <p:cNvPr id="187" name="Google Shape;187;g2c968d88648_0_34"/>
          <p:cNvSpPr txBox="1"/>
          <p:nvPr/>
        </p:nvSpPr>
        <p:spPr>
          <a:xfrm>
            <a:off x="1394292" y="1436943"/>
            <a:ext cx="7980900" cy="642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rPr b="1" i="0" lang="en-IN" sz="2400" u="none" cap="none" strike="noStrike">
                <a:solidFill>
                  <a:srgbClr val="C00000"/>
                </a:solidFill>
                <a:latin typeface="Times New Roman"/>
                <a:ea typeface="Times New Roman"/>
                <a:cs typeface="Times New Roman"/>
                <a:sym typeface="Times New Roman"/>
              </a:rPr>
              <a:t>Finding of Literature Survey</a:t>
            </a:r>
            <a:endParaRPr/>
          </a:p>
          <a:p>
            <a:pPr indent="0" lvl="0" marL="0" marR="0" rtl="0" algn="l">
              <a:lnSpc>
                <a:spcPct val="100000"/>
              </a:lnSpc>
              <a:spcBef>
                <a:spcPts val="0"/>
              </a:spcBef>
              <a:spcAft>
                <a:spcPts val="0"/>
              </a:spcAft>
              <a:buClr>
                <a:srgbClr val="000000"/>
              </a:buClr>
              <a:buSzPts val="31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400" u="none" cap="none" strike="noStrike">
              <a:solidFill>
                <a:srgbClr val="C00000"/>
              </a:solidFill>
              <a:latin typeface="Times New Roman"/>
              <a:ea typeface="Times New Roman"/>
              <a:cs typeface="Times New Roman"/>
              <a:sym typeface="Times New Roman"/>
            </a:endParaRPr>
          </a:p>
        </p:txBody>
      </p:sp>
      <p:sp>
        <p:nvSpPr>
          <p:cNvPr id="188" name="Google Shape;188;g2c968d88648_0_34"/>
          <p:cNvSpPr txBox="1"/>
          <p:nvPr/>
        </p:nvSpPr>
        <p:spPr>
          <a:xfrm>
            <a:off x="4281650" y="5776200"/>
            <a:ext cx="38295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1600">
                <a:solidFill>
                  <a:schemeClr val="dk1"/>
                </a:solidFill>
                <a:latin typeface="Calibri"/>
                <a:ea typeface="Calibri"/>
                <a:cs typeface="Calibri"/>
                <a:sym typeface="Calibri"/>
              </a:rPr>
              <a:t>Final Classes after Classification from [10]</a:t>
            </a:r>
            <a:endParaRPr b="1" sz="1600">
              <a:solidFill>
                <a:schemeClr val="dk1"/>
              </a:solidFill>
              <a:latin typeface="Calibri"/>
              <a:ea typeface="Calibri"/>
              <a:cs typeface="Calibri"/>
              <a:sym typeface="Calibri"/>
            </a:endParaRPr>
          </a:p>
        </p:txBody>
      </p:sp>
      <p:pic>
        <p:nvPicPr>
          <p:cNvPr id="189" name="Google Shape;189;g2c968d88648_0_34"/>
          <p:cNvPicPr preferRelativeResize="0"/>
          <p:nvPr/>
        </p:nvPicPr>
        <p:blipFill>
          <a:blip r:embed="rId7">
            <a:alphaModFix/>
          </a:blip>
          <a:stretch>
            <a:fillRect/>
          </a:stretch>
        </p:blipFill>
        <p:spPr>
          <a:xfrm>
            <a:off x="4374700" y="2055876"/>
            <a:ext cx="2861750" cy="3720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2c968d88648_0_52"/>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195" name="Google Shape;195;g2c968d88648_0_52"/>
          <p:cNvSpPr txBox="1"/>
          <p:nvPr/>
        </p:nvSpPr>
        <p:spPr>
          <a:xfrm>
            <a:off x="722735" y="354490"/>
            <a:ext cx="6373800" cy="64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00"/>
              <a:buFont typeface="Arial"/>
              <a:buNone/>
            </a:pPr>
            <a:r>
              <a:rPr b="1" lang="en-IN" sz="3100">
                <a:solidFill>
                  <a:srgbClr val="C00000"/>
                </a:solidFill>
                <a:latin typeface="Century Gothic"/>
                <a:ea typeface="Century Gothic"/>
                <a:cs typeface="Century Gothic"/>
                <a:sym typeface="Century Gothic"/>
              </a:rPr>
              <a:t>SUMMARY OF OUR FINDINGS</a:t>
            </a:r>
            <a:endParaRPr b="0" i="0" sz="3100" u="none" cap="none" strike="noStrike">
              <a:solidFill>
                <a:srgbClr val="C00000"/>
              </a:solidFill>
              <a:latin typeface="Century Gothic"/>
              <a:ea typeface="Century Gothic"/>
              <a:cs typeface="Century Gothic"/>
              <a:sym typeface="Century Gothic"/>
            </a:endParaRPr>
          </a:p>
        </p:txBody>
      </p:sp>
      <p:pic>
        <p:nvPicPr>
          <p:cNvPr id="196" name="Google Shape;196;g2c968d88648_0_52"/>
          <p:cNvPicPr preferRelativeResize="0"/>
          <p:nvPr/>
        </p:nvPicPr>
        <p:blipFill rotWithShape="1">
          <a:blip r:embed="rId3">
            <a:alphaModFix/>
          </a:blip>
          <a:srcRect b="0" l="0" r="0" t="0"/>
          <a:stretch/>
        </p:blipFill>
        <p:spPr>
          <a:xfrm rot="5400000">
            <a:off x="4827478" y="1554363"/>
            <a:ext cx="478058" cy="10133014"/>
          </a:xfrm>
          <a:prstGeom prst="rect">
            <a:avLst/>
          </a:prstGeom>
          <a:noFill/>
          <a:ln>
            <a:noFill/>
          </a:ln>
        </p:spPr>
      </p:pic>
      <p:pic>
        <p:nvPicPr>
          <p:cNvPr id="197" name="Google Shape;197;g2c968d88648_0_52"/>
          <p:cNvPicPr preferRelativeResize="0"/>
          <p:nvPr/>
        </p:nvPicPr>
        <p:blipFill rotWithShape="1">
          <a:blip r:embed="rId4">
            <a:alphaModFix/>
          </a:blip>
          <a:srcRect b="0" l="0" r="0" t="0"/>
          <a:stretch/>
        </p:blipFill>
        <p:spPr>
          <a:xfrm rot="5400000">
            <a:off x="10918453" y="5581463"/>
            <a:ext cx="478059" cy="2075006"/>
          </a:xfrm>
          <a:prstGeom prst="rect">
            <a:avLst/>
          </a:prstGeom>
          <a:noFill/>
          <a:ln>
            <a:noFill/>
          </a:ln>
        </p:spPr>
      </p:pic>
      <p:pic>
        <p:nvPicPr>
          <p:cNvPr id="198" name="Google Shape;198;g2c968d88648_0_52"/>
          <p:cNvPicPr preferRelativeResize="0"/>
          <p:nvPr/>
        </p:nvPicPr>
        <p:blipFill rotWithShape="1">
          <a:blip r:embed="rId5">
            <a:alphaModFix/>
          </a:blip>
          <a:srcRect b="0" l="0" r="0" t="0"/>
          <a:stretch/>
        </p:blipFill>
        <p:spPr>
          <a:xfrm rot="5400000">
            <a:off x="188326" y="5872260"/>
            <a:ext cx="346081" cy="722729"/>
          </a:xfrm>
          <a:prstGeom prst="rect">
            <a:avLst/>
          </a:prstGeom>
          <a:noFill/>
          <a:ln>
            <a:noFill/>
          </a:ln>
        </p:spPr>
      </p:pic>
      <p:sp>
        <p:nvSpPr>
          <p:cNvPr id="199" name="Google Shape;199;g2c968d88648_0_52"/>
          <p:cNvSpPr txBox="1"/>
          <p:nvPr/>
        </p:nvSpPr>
        <p:spPr>
          <a:xfrm>
            <a:off x="1022825" y="1379550"/>
            <a:ext cx="9885000" cy="615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IN" sz="1900">
                <a:solidFill>
                  <a:schemeClr val="dk1"/>
                </a:solidFill>
                <a:latin typeface="Times New Roman"/>
                <a:ea typeface="Times New Roman"/>
                <a:cs typeface="Times New Roman"/>
                <a:sym typeface="Times New Roman"/>
              </a:rPr>
              <a:t>We have discussed several papers related to the analysis and classification of Electrocardiogram (ECG) signals for heart disease detection. In [1], a new algorithm combining two-event related moving-averages and fractional-Fourier-transform is proposed, outperforming existing methods in diagnosing heart diseases based on ECG signals. [2] and [3] explore supervised ML algorithms (ANN, DT, RF, SVM, NB, k-NN) for heart disease prediction, while [4] compares SVM and CNN models for ECG signal classification, showing the superiority of deep learning. [5] achieves the highest accuracy (99.4%) using Wavelet Transform and SVM for cardiac ventricular arrhythmias classification, and [6] focuses on using CNNs with promising results.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1900">
                <a:solidFill>
                  <a:schemeClr val="dk1"/>
                </a:solidFill>
                <a:latin typeface="Times New Roman"/>
                <a:ea typeface="Times New Roman"/>
                <a:cs typeface="Times New Roman"/>
                <a:sym typeface="Times New Roman"/>
              </a:rPr>
              <a:t>Our project aims to enhance ECG signal analysis by combining the feature extraction techniques (Wavelet Transform) and SVM classifier from [5] with the deep learning architecture (CNN) from [6], seeking improved feature representation and classification performance for heart disease detection.</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g2c968d88648_0_228"/>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205" name="Google Shape;205;g2c968d88648_0_228"/>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206" name="Google Shape;206;g2c968d88648_0_228"/>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207" name="Google Shape;207;g2c968d88648_0_228"/>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208" name="Google Shape;208;g2c968d88648_0_228"/>
          <p:cNvSpPr txBox="1"/>
          <p:nvPr/>
        </p:nvSpPr>
        <p:spPr>
          <a:xfrm>
            <a:off x="1182000" y="1634625"/>
            <a:ext cx="11010000" cy="4240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rPr b="0" i="0" lang="en-IN" sz="2000" u="none" cap="none" strike="noStrike">
                <a:solidFill>
                  <a:srgbClr val="052358"/>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05235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6E3F0C"/>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700"/>
              <a:buFont typeface="Arial"/>
              <a:buNone/>
            </a:pPr>
            <a:r>
              <a:rPr b="1" i="0" lang="en-IN" sz="1700" u="none" cap="none" strike="noStrike">
                <a:solidFill>
                  <a:srgbClr val="C00000"/>
                </a:solidFill>
                <a:latin typeface="Times New Roman"/>
                <a:ea typeface="Times New Roman"/>
                <a:cs typeface="Times New Roman"/>
                <a:sym typeface="Times New Roman"/>
              </a:rPr>
              <a:t>     						</a:t>
            </a:r>
            <a:r>
              <a:rPr b="0" i="0" lang="en-IN" sz="1700" u="none" cap="none" strike="noStrike">
                <a:solidFill>
                  <a:srgbClr val="000000"/>
                </a:solidFill>
                <a:latin typeface="Times New Roman"/>
                <a:ea typeface="Times New Roman"/>
                <a:cs typeface="Times New Roman"/>
                <a:sym typeface="Times New Roman"/>
              </a:rPr>
              <a:t>			               </a:t>
            </a:r>
            <a:endParaRPr b="0" i="0" sz="11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p:txBody>
      </p:sp>
      <p:sp>
        <p:nvSpPr>
          <p:cNvPr descr="image.png" id="209" name="Google Shape;209;g2c968d88648_0_228"/>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image.png" id="210" name="Google Shape;210;g2c968d88648_0_228"/>
          <p:cNvSpPr/>
          <p:nvPr/>
        </p:nvSpPr>
        <p:spPr>
          <a:xfrm>
            <a:off x="307975" y="7937"/>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C:\Users\Aarti Sahitya\Desktop\collegelogo1.PNG" id="211" name="Google Shape;211;g2c968d88648_0_228"/>
          <p:cNvPicPr preferRelativeResize="0"/>
          <p:nvPr/>
        </p:nvPicPr>
        <p:blipFill rotWithShape="1">
          <a:blip r:embed="rId6">
            <a:alphaModFix/>
          </a:blip>
          <a:srcRect b="0" l="0" r="0" t="0"/>
          <a:stretch/>
        </p:blipFill>
        <p:spPr>
          <a:xfrm>
            <a:off x="1299625" y="48720"/>
            <a:ext cx="7655189" cy="1307114"/>
          </a:xfrm>
          <a:prstGeom prst="rect">
            <a:avLst/>
          </a:prstGeom>
          <a:noFill/>
          <a:ln>
            <a:noFill/>
          </a:ln>
        </p:spPr>
      </p:pic>
      <p:sp>
        <p:nvSpPr>
          <p:cNvPr id="212" name="Google Shape;212;g2c968d88648_0_228"/>
          <p:cNvSpPr txBox="1"/>
          <p:nvPr/>
        </p:nvSpPr>
        <p:spPr>
          <a:xfrm>
            <a:off x="1394292" y="1436943"/>
            <a:ext cx="7980900" cy="642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IN" sz="2400">
                <a:solidFill>
                  <a:srgbClr val="C00000"/>
                </a:solidFill>
                <a:latin typeface="Times New Roman"/>
                <a:ea typeface="Times New Roman"/>
                <a:cs typeface="Times New Roman"/>
                <a:sym typeface="Times New Roman"/>
              </a:rPr>
              <a:t>System Design &amp; Architecture</a:t>
            </a:r>
            <a:r>
              <a:rPr lang="en-IN">
                <a:solidFill>
                  <a:schemeClr val="dk1"/>
                </a:solidFill>
              </a:rPr>
              <a:t> </a:t>
            </a:r>
            <a:r>
              <a:rPr b="1" lang="en-IN" sz="2400">
                <a:solidFill>
                  <a:srgbClr val="C00000"/>
                </a:solidFill>
                <a:latin typeface="Times New Roman"/>
                <a:ea typeface="Times New Roman"/>
                <a:cs typeface="Times New Roman"/>
                <a:sym typeface="Times New Roman"/>
              </a:rPr>
              <a:t>(C</a:t>
            </a:r>
            <a:r>
              <a:rPr b="1" lang="en-IN" sz="2400">
                <a:solidFill>
                  <a:srgbClr val="C00000"/>
                </a:solidFill>
                <a:latin typeface="Times New Roman"/>
                <a:ea typeface="Times New Roman"/>
                <a:cs typeface="Times New Roman"/>
                <a:sym typeface="Times New Roman"/>
              </a:rPr>
              <a:t>ircuit Diagram)</a:t>
            </a:r>
            <a:endParaRPr/>
          </a:p>
          <a:p>
            <a:pPr indent="0" lvl="0" marL="0" marR="0" rtl="0" algn="l">
              <a:lnSpc>
                <a:spcPct val="100000"/>
              </a:lnSpc>
              <a:spcBef>
                <a:spcPts val="0"/>
              </a:spcBef>
              <a:spcAft>
                <a:spcPts val="0"/>
              </a:spcAft>
              <a:buClr>
                <a:srgbClr val="000000"/>
              </a:buClr>
              <a:buSzPts val="31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400" u="none" cap="none" strike="noStrike">
              <a:solidFill>
                <a:srgbClr val="C00000"/>
              </a:solidFill>
              <a:latin typeface="Times New Roman"/>
              <a:ea typeface="Times New Roman"/>
              <a:cs typeface="Times New Roman"/>
              <a:sym typeface="Times New Roman"/>
            </a:endParaRPr>
          </a:p>
        </p:txBody>
      </p:sp>
      <p:pic>
        <p:nvPicPr>
          <p:cNvPr id="213" name="Google Shape;213;g2c968d88648_0_228"/>
          <p:cNvPicPr preferRelativeResize="0"/>
          <p:nvPr/>
        </p:nvPicPr>
        <p:blipFill>
          <a:blip r:embed="rId7">
            <a:alphaModFix/>
          </a:blip>
          <a:stretch>
            <a:fillRect/>
          </a:stretch>
        </p:blipFill>
        <p:spPr>
          <a:xfrm>
            <a:off x="1753725" y="1937325"/>
            <a:ext cx="8990174" cy="4360200"/>
          </a:xfrm>
          <a:prstGeom prst="rect">
            <a:avLst/>
          </a:prstGeom>
          <a:noFill/>
          <a:ln>
            <a:noFill/>
          </a:ln>
        </p:spPr>
      </p:pic>
      <p:sp>
        <p:nvSpPr>
          <p:cNvPr id="214" name="Google Shape;214;g2c968d88648_0_228"/>
          <p:cNvSpPr txBox="1"/>
          <p:nvPr/>
        </p:nvSpPr>
        <p:spPr>
          <a:xfrm>
            <a:off x="8851700" y="4245850"/>
            <a:ext cx="1476900" cy="38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1600">
                <a:solidFill>
                  <a:schemeClr val="dk1"/>
                </a:solidFill>
                <a:latin typeface="Times New Roman"/>
                <a:ea typeface="Times New Roman"/>
                <a:cs typeface="Times New Roman"/>
                <a:sym typeface="Times New Roman"/>
              </a:rPr>
              <a:t>ECG Sensor</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p6"/>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220" name="Google Shape;220;p6"/>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221" name="Google Shape;221;p6"/>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222" name="Google Shape;222;p6"/>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223" name="Google Shape;223;p6"/>
          <p:cNvSpPr txBox="1"/>
          <p:nvPr/>
        </p:nvSpPr>
        <p:spPr>
          <a:xfrm>
            <a:off x="1182000" y="1634625"/>
            <a:ext cx="11010000" cy="4240658"/>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rPr b="0" i="0" lang="en-IN" sz="2000" u="none" cap="none" strike="noStrike">
                <a:solidFill>
                  <a:srgbClr val="052358"/>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05235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6E3F0C"/>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700"/>
              <a:buFont typeface="Arial"/>
              <a:buNone/>
            </a:pPr>
            <a:r>
              <a:rPr b="1" i="0" lang="en-IN" sz="1700" u="none" cap="none" strike="noStrike">
                <a:solidFill>
                  <a:srgbClr val="C00000"/>
                </a:solidFill>
                <a:latin typeface="Times New Roman"/>
                <a:ea typeface="Times New Roman"/>
                <a:cs typeface="Times New Roman"/>
                <a:sym typeface="Times New Roman"/>
              </a:rPr>
              <a:t>     						</a:t>
            </a:r>
            <a:r>
              <a:rPr b="0" i="0" lang="en-IN" sz="1700" u="none" cap="none" strike="noStrike">
                <a:solidFill>
                  <a:srgbClr val="000000"/>
                </a:solidFill>
                <a:latin typeface="Times New Roman"/>
                <a:ea typeface="Times New Roman"/>
                <a:cs typeface="Times New Roman"/>
                <a:sym typeface="Times New Roman"/>
              </a:rPr>
              <a:t>			               </a:t>
            </a:r>
            <a:endParaRPr b="0" i="0" sz="11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p:txBody>
      </p:sp>
      <p:sp>
        <p:nvSpPr>
          <p:cNvPr descr="image.png" id="224" name="Google Shape;224;p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image.png" id="225" name="Google Shape;225;p6"/>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C:\Users\Aarti Sahitya\Desktop\collegelogo1.PNG" id="226" name="Google Shape;226;p6"/>
          <p:cNvPicPr preferRelativeResize="0"/>
          <p:nvPr/>
        </p:nvPicPr>
        <p:blipFill rotWithShape="1">
          <a:blip r:embed="rId6">
            <a:alphaModFix/>
          </a:blip>
          <a:srcRect b="0" l="0" r="0" t="0"/>
          <a:stretch/>
        </p:blipFill>
        <p:spPr>
          <a:xfrm>
            <a:off x="1299625" y="48720"/>
            <a:ext cx="7655189" cy="1307114"/>
          </a:xfrm>
          <a:prstGeom prst="rect">
            <a:avLst/>
          </a:prstGeom>
          <a:noFill/>
          <a:ln>
            <a:noFill/>
          </a:ln>
        </p:spPr>
      </p:pic>
      <p:sp>
        <p:nvSpPr>
          <p:cNvPr id="227" name="Google Shape;227;p6"/>
          <p:cNvSpPr txBox="1"/>
          <p:nvPr/>
        </p:nvSpPr>
        <p:spPr>
          <a:xfrm>
            <a:off x="1394292" y="1436943"/>
            <a:ext cx="7980935" cy="642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rPr b="1" i="0" lang="en-IN" sz="2400" u="none" cap="none" strike="noStrike">
                <a:solidFill>
                  <a:srgbClr val="C00000"/>
                </a:solidFill>
                <a:latin typeface="Times New Roman"/>
                <a:ea typeface="Times New Roman"/>
                <a:cs typeface="Times New Roman"/>
                <a:sym typeface="Times New Roman"/>
              </a:rPr>
              <a:t>Proposed Methodology (Flowchart</a:t>
            </a:r>
            <a:r>
              <a:rPr b="1" i="0" lang="en-IN" sz="2400" u="none" cap="none" strike="noStrike">
                <a:solidFill>
                  <a:srgbClr val="C00000"/>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rgbClr val="000000"/>
              </a:buClr>
              <a:buSzPts val="31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400" u="none" cap="none" strike="noStrike">
              <a:solidFill>
                <a:srgbClr val="C00000"/>
              </a:solidFill>
              <a:latin typeface="Times New Roman"/>
              <a:ea typeface="Times New Roman"/>
              <a:cs typeface="Times New Roman"/>
              <a:sym typeface="Times New Roman"/>
            </a:endParaRPr>
          </a:p>
        </p:txBody>
      </p:sp>
      <p:pic>
        <p:nvPicPr>
          <p:cNvPr id="228" name="Google Shape;228;p6"/>
          <p:cNvPicPr preferRelativeResize="0"/>
          <p:nvPr/>
        </p:nvPicPr>
        <p:blipFill>
          <a:blip r:embed="rId7">
            <a:alphaModFix/>
          </a:blip>
          <a:stretch>
            <a:fillRect/>
          </a:stretch>
        </p:blipFill>
        <p:spPr>
          <a:xfrm>
            <a:off x="2886175" y="2079250"/>
            <a:ext cx="6987223" cy="42406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id="233" name="Google Shape;233;p8"/>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234" name="Google Shape;234;p8"/>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235" name="Google Shape;235;p8"/>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236" name="Google Shape;236;p8"/>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237" name="Google Shape;237;p8"/>
          <p:cNvSpPr txBox="1"/>
          <p:nvPr/>
        </p:nvSpPr>
        <p:spPr>
          <a:xfrm>
            <a:off x="1182000" y="1634625"/>
            <a:ext cx="11010000" cy="4240658"/>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rPr b="0" i="0" lang="en-IN" sz="2000" u="none" cap="none" strike="noStrike">
                <a:solidFill>
                  <a:srgbClr val="052358"/>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05235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6E3F0C"/>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700"/>
              <a:buFont typeface="Arial"/>
              <a:buNone/>
            </a:pPr>
            <a:r>
              <a:rPr b="1" i="0" lang="en-IN" sz="1700" u="none" cap="none" strike="noStrike">
                <a:solidFill>
                  <a:srgbClr val="C00000"/>
                </a:solidFill>
                <a:latin typeface="Times New Roman"/>
                <a:ea typeface="Times New Roman"/>
                <a:cs typeface="Times New Roman"/>
                <a:sym typeface="Times New Roman"/>
              </a:rPr>
              <a:t>     						</a:t>
            </a:r>
            <a:r>
              <a:rPr b="0" i="0" lang="en-IN" sz="1700" u="none" cap="none" strike="noStrike">
                <a:solidFill>
                  <a:srgbClr val="000000"/>
                </a:solidFill>
                <a:latin typeface="Times New Roman"/>
                <a:ea typeface="Times New Roman"/>
                <a:cs typeface="Times New Roman"/>
                <a:sym typeface="Times New Roman"/>
              </a:rPr>
              <a:t>			               </a:t>
            </a:r>
            <a:endParaRPr b="0" i="0" sz="11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p:txBody>
      </p:sp>
      <p:sp>
        <p:nvSpPr>
          <p:cNvPr descr="image.png" id="238" name="Google Shape;238;p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image.png" id="239" name="Google Shape;239;p8"/>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C:\Users\Aarti Sahitya\Desktop\collegelogo1.PNG" id="240" name="Google Shape;240;p8"/>
          <p:cNvPicPr preferRelativeResize="0"/>
          <p:nvPr/>
        </p:nvPicPr>
        <p:blipFill rotWithShape="1">
          <a:blip r:embed="rId6">
            <a:alphaModFix/>
          </a:blip>
          <a:srcRect b="0" l="0" r="0" t="0"/>
          <a:stretch/>
        </p:blipFill>
        <p:spPr>
          <a:xfrm>
            <a:off x="1299625" y="48720"/>
            <a:ext cx="7655189" cy="1307114"/>
          </a:xfrm>
          <a:prstGeom prst="rect">
            <a:avLst/>
          </a:prstGeom>
          <a:noFill/>
          <a:ln>
            <a:noFill/>
          </a:ln>
        </p:spPr>
      </p:pic>
      <p:sp>
        <p:nvSpPr>
          <p:cNvPr id="241" name="Google Shape;241;p8"/>
          <p:cNvSpPr txBox="1"/>
          <p:nvPr/>
        </p:nvSpPr>
        <p:spPr>
          <a:xfrm>
            <a:off x="1394292" y="1436943"/>
            <a:ext cx="7980935" cy="642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rPr b="1" i="0" lang="en-IN" sz="2400" u="none" cap="none" strike="noStrike">
                <a:solidFill>
                  <a:srgbClr val="C00000"/>
                </a:solidFill>
                <a:latin typeface="Times New Roman"/>
                <a:ea typeface="Times New Roman"/>
                <a:cs typeface="Times New Roman"/>
                <a:sym typeface="Times New Roman"/>
              </a:rPr>
              <a:t>Results</a:t>
            </a:r>
            <a:endParaRPr b="1" i="0" sz="24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400" u="none" cap="none" strike="noStrike">
              <a:solidFill>
                <a:srgbClr val="C00000"/>
              </a:solidFill>
              <a:latin typeface="Times New Roman"/>
              <a:ea typeface="Times New Roman"/>
              <a:cs typeface="Times New Roman"/>
              <a:sym typeface="Times New Roman"/>
            </a:endParaRPr>
          </a:p>
        </p:txBody>
      </p:sp>
      <p:pic>
        <p:nvPicPr>
          <p:cNvPr id="242" name="Google Shape;242;p8"/>
          <p:cNvPicPr preferRelativeResize="0"/>
          <p:nvPr/>
        </p:nvPicPr>
        <p:blipFill>
          <a:blip r:embed="rId7">
            <a:alphaModFix/>
          </a:blip>
          <a:stretch>
            <a:fillRect/>
          </a:stretch>
        </p:blipFill>
        <p:spPr>
          <a:xfrm>
            <a:off x="1463200" y="1993875"/>
            <a:ext cx="5213601" cy="2870251"/>
          </a:xfrm>
          <a:prstGeom prst="rect">
            <a:avLst/>
          </a:prstGeom>
          <a:noFill/>
          <a:ln>
            <a:noFill/>
          </a:ln>
        </p:spPr>
      </p:pic>
      <p:pic>
        <p:nvPicPr>
          <p:cNvPr id="243" name="Google Shape;243;p8"/>
          <p:cNvPicPr preferRelativeResize="0"/>
          <p:nvPr/>
        </p:nvPicPr>
        <p:blipFill>
          <a:blip r:embed="rId8">
            <a:alphaModFix/>
          </a:blip>
          <a:stretch>
            <a:fillRect/>
          </a:stretch>
        </p:blipFill>
        <p:spPr>
          <a:xfrm>
            <a:off x="6328075" y="1992600"/>
            <a:ext cx="5863925" cy="3005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id="248" name="Google Shape;248;p9"/>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249" name="Google Shape;249;p9"/>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250" name="Google Shape;250;p9"/>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251" name="Google Shape;251;p9"/>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252" name="Google Shape;252;p9"/>
          <p:cNvSpPr txBox="1"/>
          <p:nvPr/>
        </p:nvSpPr>
        <p:spPr>
          <a:xfrm>
            <a:off x="1394300" y="589713"/>
            <a:ext cx="9063600" cy="4240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rPr b="0" i="0" lang="en-IN" sz="2000" u="none" cap="none" strike="noStrike">
                <a:solidFill>
                  <a:srgbClr val="052358"/>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2100"/>
              <a:buFont typeface="Arial"/>
              <a:buNone/>
            </a:pPr>
            <a:r>
              <a:rPr lang="en-IN" sz="2100">
                <a:solidFill>
                  <a:schemeClr val="dk1"/>
                </a:solidFill>
                <a:latin typeface="Times New Roman"/>
                <a:ea typeface="Times New Roman"/>
                <a:cs typeface="Times New Roman"/>
                <a:sym typeface="Times New Roman"/>
              </a:rPr>
              <a:t>This project underscores the growing importance of ECG data for precise cardiovascular disease diagnosis. Notable advancements in signal processing, machine learning, and data acquisition enhance diagnostic efficiency. ECG signals, being non-invasive, remain fundamental for detecting cardiac abnormalities. Machine learning models, including CNNs and SVMs, automate the identification of abnormal cardiac patterns. Collaborative efforts and affordable hardware improve healthcare accessibility. Challenges include model scalability, generalizability, interpretability, and maintaining data security and patient privacy during clinical integration.</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0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05235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6E3F0C"/>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700"/>
              <a:buFont typeface="Arial"/>
              <a:buNone/>
            </a:pPr>
            <a:r>
              <a:rPr b="1" i="0" lang="en-IN" sz="1700" u="none" cap="none" strike="noStrike">
                <a:solidFill>
                  <a:srgbClr val="C00000"/>
                </a:solidFill>
                <a:latin typeface="Times New Roman"/>
                <a:ea typeface="Times New Roman"/>
                <a:cs typeface="Times New Roman"/>
                <a:sym typeface="Times New Roman"/>
              </a:rPr>
              <a:t>     						</a:t>
            </a:r>
            <a:r>
              <a:rPr b="0" i="0" lang="en-IN" sz="1700" u="none" cap="none" strike="noStrike">
                <a:solidFill>
                  <a:srgbClr val="000000"/>
                </a:solidFill>
                <a:latin typeface="Times New Roman"/>
                <a:ea typeface="Times New Roman"/>
                <a:cs typeface="Times New Roman"/>
                <a:sym typeface="Times New Roman"/>
              </a:rPr>
              <a:t>			               </a:t>
            </a:r>
            <a:endParaRPr b="0" i="0" sz="11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p:txBody>
      </p:sp>
      <p:sp>
        <p:nvSpPr>
          <p:cNvPr descr="image.png" id="253" name="Google Shape;253;p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image.png" id="254" name="Google Shape;254;p9"/>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C:\Users\Aarti Sahitya\Desktop\collegelogo1.PNG" id="255" name="Google Shape;255;p9"/>
          <p:cNvPicPr preferRelativeResize="0"/>
          <p:nvPr/>
        </p:nvPicPr>
        <p:blipFill rotWithShape="1">
          <a:blip r:embed="rId6">
            <a:alphaModFix/>
          </a:blip>
          <a:srcRect b="0" l="0" r="0" t="0"/>
          <a:stretch/>
        </p:blipFill>
        <p:spPr>
          <a:xfrm>
            <a:off x="1299625" y="48720"/>
            <a:ext cx="7655189" cy="1307114"/>
          </a:xfrm>
          <a:prstGeom prst="rect">
            <a:avLst/>
          </a:prstGeom>
          <a:noFill/>
          <a:ln>
            <a:noFill/>
          </a:ln>
        </p:spPr>
      </p:pic>
      <p:sp>
        <p:nvSpPr>
          <p:cNvPr id="256" name="Google Shape;256;p9"/>
          <p:cNvSpPr txBox="1"/>
          <p:nvPr/>
        </p:nvSpPr>
        <p:spPr>
          <a:xfrm>
            <a:off x="1394292" y="1436943"/>
            <a:ext cx="7980900" cy="642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rPr b="1" i="0" lang="en-IN" sz="2400" u="none" cap="none" strike="noStrike">
                <a:solidFill>
                  <a:srgbClr val="C00000"/>
                </a:solidFill>
                <a:latin typeface="Times New Roman"/>
                <a:ea typeface="Times New Roman"/>
                <a:cs typeface="Times New Roman"/>
                <a:sym typeface="Times New Roman"/>
              </a:rPr>
              <a:t>Conclusion </a:t>
            </a:r>
            <a:endParaRPr b="1" i="0" sz="24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100"/>
              <a:buFont typeface="Arial"/>
              <a:buNone/>
            </a:pPr>
            <a:r>
              <a:t/>
            </a:r>
            <a:endParaRPr b="0" i="0" sz="2400" u="none" cap="none" strike="noStrike">
              <a:solidFill>
                <a:srgbClr val="C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2c968d88648_0_136"/>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262" name="Google Shape;262;g2c968d88648_0_136"/>
          <p:cNvSpPr txBox="1"/>
          <p:nvPr/>
        </p:nvSpPr>
        <p:spPr>
          <a:xfrm>
            <a:off x="722735" y="158865"/>
            <a:ext cx="6373800" cy="64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00"/>
              <a:buFont typeface="Arial"/>
              <a:buNone/>
            </a:pPr>
            <a:r>
              <a:rPr b="1" lang="en-IN" sz="3100">
                <a:solidFill>
                  <a:srgbClr val="C00000"/>
                </a:solidFill>
                <a:latin typeface="Century Gothic"/>
                <a:ea typeface="Century Gothic"/>
                <a:cs typeface="Century Gothic"/>
                <a:sym typeface="Century Gothic"/>
              </a:rPr>
              <a:t>REFERENCES</a:t>
            </a:r>
            <a:endParaRPr b="0" i="0" sz="3100" u="none" cap="none" strike="noStrike">
              <a:solidFill>
                <a:srgbClr val="C00000"/>
              </a:solidFill>
              <a:latin typeface="Century Gothic"/>
              <a:ea typeface="Century Gothic"/>
              <a:cs typeface="Century Gothic"/>
              <a:sym typeface="Century Gothic"/>
            </a:endParaRPr>
          </a:p>
        </p:txBody>
      </p:sp>
      <p:pic>
        <p:nvPicPr>
          <p:cNvPr id="263" name="Google Shape;263;g2c968d88648_0_136"/>
          <p:cNvPicPr preferRelativeResize="0"/>
          <p:nvPr/>
        </p:nvPicPr>
        <p:blipFill rotWithShape="1">
          <a:blip r:embed="rId3">
            <a:alphaModFix/>
          </a:blip>
          <a:srcRect b="0" l="0" r="0" t="0"/>
          <a:stretch/>
        </p:blipFill>
        <p:spPr>
          <a:xfrm rot="5400000">
            <a:off x="4827478" y="1554363"/>
            <a:ext cx="478058" cy="10133014"/>
          </a:xfrm>
          <a:prstGeom prst="rect">
            <a:avLst/>
          </a:prstGeom>
          <a:noFill/>
          <a:ln>
            <a:noFill/>
          </a:ln>
        </p:spPr>
      </p:pic>
      <p:pic>
        <p:nvPicPr>
          <p:cNvPr id="264" name="Google Shape;264;g2c968d88648_0_136"/>
          <p:cNvPicPr preferRelativeResize="0"/>
          <p:nvPr/>
        </p:nvPicPr>
        <p:blipFill rotWithShape="1">
          <a:blip r:embed="rId4">
            <a:alphaModFix/>
          </a:blip>
          <a:srcRect b="0" l="0" r="0" t="0"/>
          <a:stretch/>
        </p:blipFill>
        <p:spPr>
          <a:xfrm rot="5400000">
            <a:off x="10918453" y="5581463"/>
            <a:ext cx="478059" cy="2075006"/>
          </a:xfrm>
          <a:prstGeom prst="rect">
            <a:avLst/>
          </a:prstGeom>
          <a:noFill/>
          <a:ln>
            <a:noFill/>
          </a:ln>
        </p:spPr>
      </p:pic>
      <p:pic>
        <p:nvPicPr>
          <p:cNvPr id="265" name="Google Shape;265;g2c968d88648_0_136"/>
          <p:cNvPicPr preferRelativeResize="0"/>
          <p:nvPr/>
        </p:nvPicPr>
        <p:blipFill rotWithShape="1">
          <a:blip r:embed="rId5">
            <a:alphaModFix/>
          </a:blip>
          <a:srcRect b="0" l="0" r="0" t="0"/>
          <a:stretch/>
        </p:blipFill>
        <p:spPr>
          <a:xfrm rot="5400000">
            <a:off x="188326" y="5872260"/>
            <a:ext cx="346081" cy="722729"/>
          </a:xfrm>
          <a:prstGeom prst="rect">
            <a:avLst/>
          </a:prstGeom>
          <a:noFill/>
          <a:ln>
            <a:noFill/>
          </a:ln>
        </p:spPr>
      </p:pic>
      <p:sp>
        <p:nvSpPr>
          <p:cNvPr id="266" name="Google Shape;266;g2c968d88648_0_136"/>
          <p:cNvSpPr txBox="1"/>
          <p:nvPr/>
        </p:nvSpPr>
        <p:spPr>
          <a:xfrm>
            <a:off x="1166850" y="743650"/>
            <a:ext cx="9858300" cy="38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1100">
                <a:latin typeface="Calibri"/>
                <a:ea typeface="Calibri"/>
                <a:cs typeface="Calibri"/>
                <a:sym typeface="Calibri"/>
              </a:rPr>
              <a:t>[1] Aziz, Saira &amp; Ahmed, Sajid &amp; Alouini, Mohamed-Slim. (2021). ECG-based machine-learning algorithms for heartbeat classification. Scientific Reports. 11. 18738. 10.1038/s41598-021-97118-5. </a:t>
            </a:r>
            <a:endParaRPr sz="1100">
              <a:latin typeface="Calibri"/>
              <a:ea typeface="Calibri"/>
              <a:cs typeface="Calibri"/>
              <a:sym typeface="Calibri"/>
            </a:endParaRPr>
          </a:p>
          <a:p>
            <a:pPr indent="0" lvl="0" marL="0" rtl="0" algn="l">
              <a:spcBef>
                <a:spcPts val="0"/>
              </a:spcBef>
              <a:spcAft>
                <a:spcPts val="0"/>
              </a:spcAft>
              <a:buNone/>
            </a:pPr>
            <a:r>
              <a:rPr lang="en-IN" sz="1100" u="sng">
                <a:solidFill>
                  <a:schemeClr val="hlink"/>
                </a:solidFill>
                <a:latin typeface="Calibri"/>
                <a:ea typeface="Calibri"/>
                <a:cs typeface="Calibri"/>
                <a:sym typeface="Calibri"/>
                <a:hlinkClick r:id="rId6"/>
              </a:rPr>
              <a:t>https://www.researchgate.net/publication/354725060_ECG-based_machine-learning_algorithms_for_heartbeat_classification</a:t>
            </a:r>
            <a:endParaRPr sz="1100">
              <a:latin typeface="Calibri"/>
              <a:ea typeface="Calibri"/>
              <a:cs typeface="Calibri"/>
              <a:sym typeface="Calibri"/>
            </a:endParaRPr>
          </a:p>
          <a:p>
            <a:pPr indent="0" lvl="0" marL="0" rtl="0" algn="l">
              <a:spcBef>
                <a:spcPts val="0"/>
              </a:spcBef>
              <a:spcAft>
                <a:spcPts val="0"/>
              </a:spcAft>
              <a:buNone/>
            </a:pPr>
            <a:r>
              <a:t/>
            </a:r>
            <a:endParaRPr sz="1100">
              <a:latin typeface="Calibri"/>
              <a:ea typeface="Calibri"/>
              <a:cs typeface="Calibri"/>
              <a:sym typeface="Calibri"/>
            </a:endParaRPr>
          </a:p>
          <a:p>
            <a:pPr indent="0" lvl="0" marL="0" rtl="0" algn="l">
              <a:spcBef>
                <a:spcPts val="0"/>
              </a:spcBef>
              <a:spcAft>
                <a:spcPts val="0"/>
              </a:spcAft>
              <a:buNone/>
            </a:pPr>
            <a:r>
              <a:rPr lang="en-IN" sz="1100">
                <a:latin typeface="Calibri"/>
                <a:ea typeface="Calibri"/>
                <a:cs typeface="Calibri"/>
                <a:sym typeface="Calibri"/>
              </a:rPr>
              <a:t>[2] R. Aggarwal and S. Kumar, "MLPPCA: Heart Disease Detection using Machine learning," 2022 Seventh International Conference on Parallel, Distributed and Grid Computing (PDGC), Solan, Himachal Pradesh, India, 2022, pp. 457-461, doi: 10.1109/PDGC56933.2022.10053266.</a:t>
            </a:r>
            <a:endParaRPr sz="1100">
              <a:latin typeface="Calibri"/>
              <a:ea typeface="Calibri"/>
              <a:cs typeface="Calibri"/>
              <a:sym typeface="Calibri"/>
            </a:endParaRPr>
          </a:p>
          <a:p>
            <a:pPr indent="0" lvl="0" marL="0" rtl="0" algn="l">
              <a:spcBef>
                <a:spcPts val="0"/>
              </a:spcBef>
              <a:spcAft>
                <a:spcPts val="0"/>
              </a:spcAft>
              <a:buNone/>
            </a:pPr>
            <a:r>
              <a:rPr lang="en-IN" sz="1100" u="sng">
                <a:solidFill>
                  <a:schemeClr val="hlink"/>
                </a:solidFill>
                <a:latin typeface="Calibri"/>
                <a:ea typeface="Calibri"/>
                <a:cs typeface="Calibri"/>
                <a:sym typeface="Calibri"/>
                <a:hlinkClick r:id="rId7"/>
              </a:rPr>
              <a:t>https://ieeexplore.ieee.org/document/10053266</a:t>
            </a:r>
            <a:endParaRPr sz="1100">
              <a:latin typeface="Calibri"/>
              <a:ea typeface="Calibri"/>
              <a:cs typeface="Calibri"/>
              <a:sym typeface="Calibri"/>
            </a:endParaRPr>
          </a:p>
          <a:p>
            <a:pPr indent="0" lvl="0" marL="0" rtl="0" algn="l">
              <a:spcBef>
                <a:spcPts val="0"/>
              </a:spcBef>
              <a:spcAft>
                <a:spcPts val="0"/>
              </a:spcAft>
              <a:buNone/>
            </a:pPr>
            <a:r>
              <a:t/>
            </a:r>
            <a:endParaRPr sz="1100">
              <a:latin typeface="Calibri"/>
              <a:ea typeface="Calibri"/>
              <a:cs typeface="Calibri"/>
              <a:sym typeface="Calibri"/>
            </a:endParaRPr>
          </a:p>
          <a:p>
            <a:pPr indent="0" lvl="0" marL="0" rtl="0" algn="l">
              <a:spcBef>
                <a:spcPts val="0"/>
              </a:spcBef>
              <a:spcAft>
                <a:spcPts val="0"/>
              </a:spcAft>
              <a:buNone/>
            </a:pPr>
            <a:r>
              <a:rPr lang="en-IN" sz="1100">
                <a:latin typeface="Calibri"/>
                <a:ea typeface="Calibri"/>
                <a:cs typeface="Calibri"/>
                <a:sym typeface="Calibri"/>
              </a:rPr>
              <a:t>[3] M. S. Raja, M. Anurag, C. P. Reddy and N. R. Sirisala, "Machine Learning Based Heart Disease Prediction System," 2021 International Conference on Computer Communication and Informatics (ICCCI), Coimbatore, India, 2021, pp. 1-5, doi: 10.1109/ICCCI50826.2021.9402653.</a:t>
            </a:r>
            <a:endParaRPr sz="1100">
              <a:latin typeface="Calibri"/>
              <a:ea typeface="Calibri"/>
              <a:cs typeface="Calibri"/>
              <a:sym typeface="Calibri"/>
            </a:endParaRPr>
          </a:p>
          <a:p>
            <a:pPr indent="0" lvl="0" marL="0" rtl="0" algn="l">
              <a:spcBef>
                <a:spcPts val="0"/>
              </a:spcBef>
              <a:spcAft>
                <a:spcPts val="0"/>
              </a:spcAft>
              <a:buNone/>
            </a:pPr>
            <a:r>
              <a:rPr lang="en-IN" sz="1100" u="sng">
                <a:solidFill>
                  <a:schemeClr val="hlink"/>
                </a:solidFill>
                <a:latin typeface="Calibri"/>
                <a:ea typeface="Calibri"/>
                <a:cs typeface="Calibri"/>
                <a:sym typeface="Calibri"/>
                <a:hlinkClick r:id="rId8"/>
              </a:rPr>
              <a:t>https://ieeexplore.ieee.org/document/9402653</a:t>
            </a:r>
            <a:endParaRPr sz="1100">
              <a:latin typeface="Calibri"/>
              <a:ea typeface="Calibri"/>
              <a:cs typeface="Calibri"/>
              <a:sym typeface="Calibri"/>
            </a:endParaRPr>
          </a:p>
          <a:p>
            <a:pPr indent="0" lvl="0" marL="0" rtl="0" algn="l">
              <a:spcBef>
                <a:spcPts val="0"/>
              </a:spcBef>
              <a:spcAft>
                <a:spcPts val="0"/>
              </a:spcAft>
              <a:buNone/>
            </a:pPr>
            <a:r>
              <a:t/>
            </a:r>
            <a:endParaRPr sz="1100">
              <a:latin typeface="Calibri"/>
              <a:ea typeface="Calibri"/>
              <a:cs typeface="Calibri"/>
              <a:sym typeface="Calibri"/>
            </a:endParaRPr>
          </a:p>
          <a:p>
            <a:pPr indent="0" lvl="0" marL="0" rtl="0" algn="l">
              <a:spcBef>
                <a:spcPts val="0"/>
              </a:spcBef>
              <a:spcAft>
                <a:spcPts val="0"/>
              </a:spcAft>
              <a:buNone/>
            </a:pPr>
            <a:r>
              <a:rPr lang="en-IN" sz="1100">
                <a:latin typeface="Calibri"/>
                <a:ea typeface="Calibri"/>
                <a:cs typeface="Calibri"/>
                <a:sym typeface="Calibri"/>
              </a:rPr>
              <a:t>[4] S. S. Tippannavar, R. Harshith, R. Shashidhar, S. C. Sweekar and S. Jain, "ECG based Heart Disease Classification and Validation using 2D CNN," 2022 5th International Conference on Contemporary Computing and Informatics (IC3I), Uttar Pradesh, India, 2022, pp. 1182-1186, doi: 10.1109/IC3I56241.2022.10073094.</a:t>
            </a:r>
            <a:endParaRPr sz="1100">
              <a:latin typeface="Calibri"/>
              <a:ea typeface="Calibri"/>
              <a:cs typeface="Calibri"/>
              <a:sym typeface="Calibri"/>
            </a:endParaRPr>
          </a:p>
          <a:p>
            <a:pPr indent="0" lvl="0" marL="0" rtl="0" algn="l">
              <a:spcBef>
                <a:spcPts val="0"/>
              </a:spcBef>
              <a:spcAft>
                <a:spcPts val="0"/>
              </a:spcAft>
              <a:buNone/>
            </a:pPr>
            <a:r>
              <a:rPr lang="en-IN" sz="1100" u="sng">
                <a:solidFill>
                  <a:schemeClr val="hlink"/>
                </a:solidFill>
                <a:latin typeface="Calibri"/>
                <a:ea typeface="Calibri"/>
                <a:cs typeface="Calibri"/>
                <a:sym typeface="Calibri"/>
                <a:hlinkClick r:id="rId9"/>
              </a:rPr>
              <a:t>https://ieeexplore.ieee.org/document/10073094</a:t>
            </a:r>
            <a:endParaRPr sz="1100">
              <a:latin typeface="Calibri"/>
              <a:ea typeface="Calibri"/>
              <a:cs typeface="Calibri"/>
              <a:sym typeface="Calibri"/>
            </a:endParaRPr>
          </a:p>
          <a:p>
            <a:pPr indent="0" lvl="0" marL="0" rtl="0" algn="l">
              <a:spcBef>
                <a:spcPts val="0"/>
              </a:spcBef>
              <a:spcAft>
                <a:spcPts val="0"/>
              </a:spcAft>
              <a:buNone/>
            </a:pPr>
            <a:r>
              <a:t/>
            </a:r>
            <a:endParaRPr sz="1100">
              <a:latin typeface="Calibri"/>
              <a:ea typeface="Calibri"/>
              <a:cs typeface="Calibri"/>
              <a:sym typeface="Calibri"/>
            </a:endParaRPr>
          </a:p>
          <a:p>
            <a:pPr indent="0" lvl="0" marL="0" rtl="0" algn="l">
              <a:spcBef>
                <a:spcPts val="0"/>
              </a:spcBef>
              <a:spcAft>
                <a:spcPts val="0"/>
              </a:spcAft>
              <a:buNone/>
            </a:pPr>
            <a:r>
              <a:rPr lang="en-IN" sz="1100">
                <a:latin typeface="Calibri"/>
                <a:ea typeface="Calibri"/>
                <a:cs typeface="Calibri"/>
                <a:sym typeface="Calibri"/>
              </a:rPr>
              <a:t>[5 ]H. A. Poonja, M. Soleman Ali Shah, M. A. Shirazi and R. Uddin, "Evaluation of ECG based Recognition of Cardiac Abnormalities using Machine Learning and Deep Learning," 2021 International Conference on Robotics and Automation in Industry (ICRAI), Rawalpindi, Pakistan, 2021, pp. 1-4, doi: 10.1109/ICRAI54018.2021.9651457.</a:t>
            </a:r>
            <a:endParaRPr sz="1100">
              <a:latin typeface="Calibri"/>
              <a:ea typeface="Calibri"/>
              <a:cs typeface="Calibri"/>
              <a:sym typeface="Calibri"/>
            </a:endParaRPr>
          </a:p>
          <a:p>
            <a:pPr indent="0" lvl="0" marL="0" rtl="0" algn="l">
              <a:spcBef>
                <a:spcPts val="0"/>
              </a:spcBef>
              <a:spcAft>
                <a:spcPts val="0"/>
              </a:spcAft>
              <a:buNone/>
            </a:pPr>
            <a:r>
              <a:rPr lang="en-IN" sz="1100" u="sng">
                <a:solidFill>
                  <a:schemeClr val="hlink"/>
                </a:solidFill>
                <a:latin typeface="Calibri"/>
                <a:ea typeface="Calibri"/>
                <a:cs typeface="Calibri"/>
                <a:sym typeface="Calibri"/>
                <a:hlinkClick r:id="rId10"/>
              </a:rPr>
              <a:t>https://ieeexplore.ieee.org/document/9651457</a:t>
            </a:r>
            <a:endParaRPr sz="1100">
              <a:latin typeface="Calibri"/>
              <a:ea typeface="Calibri"/>
              <a:cs typeface="Calibri"/>
              <a:sym typeface="Calibri"/>
            </a:endParaRPr>
          </a:p>
          <a:p>
            <a:pPr indent="0" lvl="0" marL="0" rtl="0" algn="l">
              <a:spcBef>
                <a:spcPts val="0"/>
              </a:spcBef>
              <a:spcAft>
                <a:spcPts val="0"/>
              </a:spcAft>
              <a:buNone/>
            </a:pPr>
            <a:r>
              <a:t/>
            </a:r>
            <a:endParaRPr sz="1100">
              <a:latin typeface="Calibri"/>
              <a:ea typeface="Calibri"/>
              <a:cs typeface="Calibri"/>
              <a:sym typeface="Calibri"/>
            </a:endParaRPr>
          </a:p>
          <a:p>
            <a:pPr indent="0" lvl="0" marL="0" rtl="0" algn="l">
              <a:spcBef>
                <a:spcPts val="0"/>
              </a:spcBef>
              <a:spcAft>
                <a:spcPts val="0"/>
              </a:spcAft>
              <a:buNone/>
            </a:pPr>
            <a:r>
              <a:rPr lang="en-IN" sz="1100">
                <a:latin typeface="Calibri"/>
                <a:ea typeface="Calibri"/>
                <a:cs typeface="Calibri"/>
                <a:sym typeface="Calibri"/>
              </a:rPr>
              <a:t>[6] V. G. Rajendran, S. Jayalalitha, M. Thalaimalaichamy and T. N. Raj, "Classification of heart disease from ECG signals using Machine Learning," 2021 International Conference on Recent Trends on Electronics, Information, Communication &amp; Technology (RTEICT), Bangalore, India, 2021, pp. 606-609, doi: 10.1109/RTEICT52294.2021.9573659.</a:t>
            </a:r>
            <a:endParaRPr sz="1100">
              <a:latin typeface="Calibri"/>
              <a:ea typeface="Calibri"/>
              <a:cs typeface="Calibri"/>
              <a:sym typeface="Calibri"/>
            </a:endParaRPr>
          </a:p>
          <a:p>
            <a:pPr indent="0" lvl="0" marL="0" rtl="0" algn="l">
              <a:spcBef>
                <a:spcPts val="0"/>
              </a:spcBef>
              <a:spcAft>
                <a:spcPts val="0"/>
              </a:spcAft>
              <a:buNone/>
            </a:pPr>
            <a:r>
              <a:rPr lang="en-IN" sz="1100">
                <a:latin typeface="Calibri"/>
                <a:ea typeface="Calibri"/>
                <a:cs typeface="Calibri"/>
                <a:sym typeface="Calibri"/>
              </a:rPr>
              <a:t>https://ieeexplore.ieee.org/document/9573659</a:t>
            </a:r>
            <a:endParaRPr sz="1100">
              <a:latin typeface="Calibri"/>
              <a:ea typeface="Calibri"/>
              <a:cs typeface="Calibri"/>
              <a:sym typeface="Calibri"/>
            </a:endParaRPr>
          </a:p>
          <a:p>
            <a:pPr indent="0" lvl="0" marL="0" rtl="0" algn="l">
              <a:spcBef>
                <a:spcPts val="0"/>
              </a:spcBef>
              <a:spcAft>
                <a:spcPts val="0"/>
              </a:spcAft>
              <a:buNone/>
            </a:pPr>
            <a:r>
              <a:t/>
            </a:r>
            <a:endParaRPr sz="1100">
              <a:latin typeface="Calibri"/>
              <a:ea typeface="Calibri"/>
              <a:cs typeface="Calibri"/>
              <a:sym typeface="Calibri"/>
            </a:endParaRPr>
          </a:p>
          <a:p>
            <a:pPr indent="0" lvl="0" marL="0" rtl="0" algn="l">
              <a:spcBef>
                <a:spcPts val="0"/>
              </a:spcBef>
              <a:spcAft>
                <a:spcPts val="0"/>
              </a:spcAft>
              <a:buNone/>
            </a:pPr>
            <a:r>
              <a:rPr lang="en-IN" sz="1100">
                <a:latin typeface="Calibri"/>
                <a:ea typeface="Calibri"/>
                <a:cs typeface="Calibri"/>
                <a:sym typeface="Calibri"/>
              </a:rPr>
              <a:t>[7] Alarsan, F.I., Younes, M. Analysis and classification of heart diseases using heartbeat features and machine learning algorithms. J Big Data 6, 81 (2019). </a:t>
            </a:r>
            <a:r>
              <a:rPr lang="en-IN" sz="1100" u="sng">
                <a:solidFill>
                  <a:schemeClr val="hlink"/>
                </a:solidFill>
                <a:latin typeface="Calibri"/>
                <a:ea typeface="Calibri"/>
                <a:cs typeface="Calibri"/>
                <a:sym typeface="Calibri"/>
                <a:hlinkClick r:id="rId11"/>
              </a:rPr>
              <a:t>https://doi.org/10.1186/s40537-019-0244-x</a:t>
            </a:r>
            <a:endParaRPr sz="1100">
              <a:latin typeface="Calibri"/>
              <a:ea typeface="Calibri"/>
              <a:cs typeface="Calibri"/>
              <a:sym typeface="Calibri"/>
            </a:endParaRPr>
          </a:p>
          <a:p>
            <a:pPr indent="0" lvl="0" marL="0" rtl="0" algn="l">
              <a:spcBef>
                <a:spcPts val="0"/>
              </a:spcBef>
              <a:spcAft>
                <a:spcPts val="0"/>
              </a:spcAft>
              <a:buNone/>
            </a:pPr>
            <a:r>
              <a:t/>
            </a:r>
            <a:endParaRPr sz="1100">
              <a:latin typeface="Calibri"/>
              <a:ea typeface="Calibri"/>
              <a:cs typeface="Calibri"/>
              <a:sym typeface="Calibri"/>
            </a:endParaRPr>
          </a:p>
          <a:p>
            <a:pPr indent="0" lvl="0" marL="0" rtl="0" algn="l">
              <a:spcBef>
                <a:spcPts val="0"/>
              </a:spcBef>
              <a:spcAft>
                <a:spcPts val="0"/>
              </a:spcAft>
              <a:buNone/>
            </a:pPr>
            <a:r>
              <a:rPr lang="en-IN" sz="1100">
                <a:latin typeface="Calibri"/>
                <a:ea typeface="Calibri"/>
                <a:cs typeface="Calibri"/>
                <a:sym typeface="Calibri"/>
              </a:rPr>
              <a:t>[8] Alarsan, F.I., Younes, M. Analysis and classification of heart diseases using heartbeat features and machine learning algorithms. J Big Data 6, 81 (2019). </a:t>
            </a:r>
            <a:r>
              <a:rPr lang="en-IN" sz="1100" u="sng">
                <a:solidFill>
                  <a:schemeClr val="hlink"/>
                </a:solidFill>
                <a:latin typeface="Calibri"/>
                <a:ea typeface="Calibri"/>
                <a:cs typeface="Calibri"/>
                <a:sym typeface="Calibri"/>
                <a:hlinkClick r:id="rId12"/>
              </a:rPr>
              <a:t>https://doi.org/10.1186/s40537-019-0244-x</a:t>
            </a:r>
            <a:endParaRPr sz="1100">
              <a:latin typeface="Calibri"/>
              <a:ea typeface="Calibri"/>
              <a:cs typeface="Calibri"/>
              <a:sym typeface="Calibri"/>
            </a:endParaRPr>
          </a:p>
          <a:p>
            <a:pPr indent="0" lvl="0" marL="0" rtl="0" algn="l">
              <a:spcBef>
                <a:spcPts val="0"/>
              </a:spcBef>
              <a:spcAft>
                <a:spcPts val="0"/>
              </a:spcAft>
              <a:buNone/>
            </a:pPr>
            <a:r>
              <a:t/>
            </a:r>
            <a:endParaRPr sz="1100">
              <a:latin typeface="Calibri"/>
              <a:ea typeface="Calibri"/>
              <a:cs typeface="Calibri"/>
              <a:sym typeface="Calibri"/>
            </a:endParaRPr>
          </a:p>
          <a:p>
            <a:pPr indent="0" lvl="0" marL="0" rtl="0" algn="l">
              <a:spcBef>
                <a:spcPts val="0"/>
              </a:spcBef>
              <a:spcAft>
                <a:spcPts val="0"/>
              </a:spcAft>
              <a:buNone/>
            </a:pPr>
            <a:r>
              <a:rPr lang="en-IN" sz="1100">
                <a:latin typeface="Calibri"/>
                <a:ea typeface="Calibri"/>
                <a:cs typeface="Calibri"/>
                <a:sym typeface="Calibri"/>
              </a:rPr>
              <a:t>[9] Alarsan, F.I., Younes, M. Analysis and classification of heart diseases using heartbeat features and machine learning algorithms. J Big Data 6, 81 (2019). </a:t>
            </a:r>
            <a:r>
              <a:rPr lang="en-IN" sz="1100" u="sng">
                <a:solidFill>
                  <a:schemeClr val="hlink"/>
                </a:solidFill>
                <a:latin typeface="Calibri"/>
                <a:ea typeface="Calibri"/>
                <a:cs typeface="Calibri"/>
                <a:sym typeface="Calibri"/>
                <a:hlinkClick r:id="rId13"/>
              </a:rPr>
              <a:t>https://doi.org/10.1186/s40537-019-0244-x</a:t>
            </a:r>
            <a:br>
              <a:rPr lang="en-IN" sz="1100">
                <a:latin typeface="Calibri"/>
                <a:ea typeface="Calibri"/>
                <a:cs typeface="Calibri"/>
                <a:sym typeface="Calibri"/>
              </a:rPr>
            </a:br>
            <a:endParaRPr sz="1100">
              <a:latin typeface="Calibri"/>
              <a:ea typeface="Calibri"/>
              <a:cs typeface="Calibri"/>
              <a:sym typeface="Calibri"/>
            </a:endParaRPr>
          </a:p>
          <a:p>
            <a:pPr indent="0" lvl="0" marL="0" rtl="0" algn="l">
              <a:spcBef>
                <a:spcPts val="0"/>
              </a:spcBef>
              <a:spcAft>
                <a:spcPts val="0"/>
              </a:spcAft>
              <a:buNone/>
            </a:pPr>
            <a:r>
              <a:t/>
            </a:r>
            <a:endParaRPr sz="180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2c968d88648_0_145"/>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272" name="Google Shape;272;g2c968d88648_0_145"/>
          <p:cNvSpPr txBox="1"/>
          <p:nvPr/>
        </p:nvSpPr>
        <p:spPr>
          <a:xfrm>
            <a:off x="4038485" y="2618115"/>
            <a:ext cx="6373800" cy="64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00"/>
              <a:buFont typeface="Arial"/>
              <a:buNone/>
            </a:pPr>
            <a:r>
              <a:rPr b="1" i="0" lang="en-IN" sz="3100" u="none" cap="none" strike="noStrike">
                <a:solidFill>
                  <a:srgbClr val="C00000"/>
                </a:solidFill>
                <a:latin typeface="Century Gothic"/>
                <a:ea typeface="Century Gothic"/>
                <a:cs typeface="Century Gothic"/>
                <a:sym typeface="Century Gothic"/>
              </a:rPr>
              <a:t>Thank You…!</a:t>
            </a:r>
            <a:endParaRPr b="0" i="0" sz="3100" u="none" cap="none" strike="noStrike">
              <a:solidFill>
                <a:srgbClr val="C00000"/>
              </a:solidFill>
              <a:latin typeface="Century Gothic"/>
              <a:ea typeface="Century Gothic"/>
              <a:cs typeface="Century Gothic"/>
              <a:sym typeface="Century Gothic"/>
            </a:endParaRPr>
          </a:p>
        </p:txBody>
      </p:sp>
      <p:pic>
        <p:nvPicPr>
          <p:cNvPr id="273" name="Google Shape;273;g2c968d88648_0_145"/>
          <p:cNvPicPr preferRelativeResize="0"/>
          <p:nvPr/>
        </p:nvPicPr>
        <p:blipFill rotWithShape="1">
          <a:blip r:embed="rId3">
            <a:alphaModFix/>
          </a:blip>
          <a:srcRect b="0" l="0" r="0" t="0"/>
          <a:stretch/>
        </p:blipFill>
        <p:spPr>
          <a:xfrm rot="5400000">
            <a:off x="4827478" y="1554363"/>
            <a:ext cx="478058" cy="10133014"/>
          </a:xfrm>
          <a:prstGeom prst="rect">
            <a:avLst/>
          </a:prstGeom>
          <a:noFill/>
          <a:ln>
            <a:noFill/>
          </a:ln>
        </p:spPr>
      </p:pic>
      <p:pic>
        <p:nvPicPr>
          <p:cNvPr id="274" name="Google Shape;274;g2c968d88648_0_145"/>
          <p:cNvPicPr preferRelativeResize="0"/>
          <p:nvPr/>
        </p:nvPicPr>
        <p:blipFill rotWithShape="1">
          <a:blip r:embed="rId4">
            <a:alphaModFix/>
          </a:blip>
          <a:srcRect b="0" l="0" r="0" t="0"/>
          <a:stretch/>
        </p:blipFill>
        <p:spPr>
          <a:xfrm rot="5400000">
            <a:off x="10918453" y="5581463"/>
            <a:ext cx="478059" cy="2075006"/>
          </a:xfrm>
          <a:prstGeom prst="rect">
            <a:avLst/>
          </a:prstGeom>
          <a:noFill/>
          <a:ln>
            <a:noFill/>
          </a:ln>
        </p:spPr>
      </p:pic>
      <p:pic>
        <p:nvPicPr>
          <p:cNvPr id="275" name="Google Shape;275;g2c968d88648_0_145"/>
          <p:cNvPicPr preferRelativeResize="0"/>
          <p:nvPr/>
        </p:nvPicPr>
        <p:blipFill rotWithShape="1">
          <a:blip r:embed="rId5">
            <a:alphaModFix/>
          </a:blip>
          <a:srcRect b="0" l="0" r="0" t="0"/>
          <a:stretch/>
        </p:blipFill>
        <p:spPr>
          <a:xfrm rot="5400000">
            <a:off x="188326" y="5872260"/>
            <a:ext cx="346081" cy="72272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coreProperties>
</file>